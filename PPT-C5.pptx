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64" r:id="rId2"/>
    <p:sldId id="274" r:id="rId3"/>
    <p:sldId id="263" r:id="rId4"/>
    <p:sldId id="265" r:id="rId5"/>
    <p:sldId id="282" r:id="rId6"/>
    <p:sldId id="266" r:id="rId7"/>
    <p:sldId id="267" r:id="rId8"/>
    <p:sldId id="268" r:id="rId9"/>
    <p:sldId id="269" r:id="rId10"/>
    <p:sldId id="273" r:id="rId11"/>
    <p:sldId id="271" r:id="rId12"/>
    <p:sldId id="278" r:id="rId13"/>
    <p:sldId id="280" r:id="rId14"/>
    <p:sldId id="276" r:id="rId15"/>
    <p:sldId id="28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7E69"/>
    <a:srgbClr val="EC7E32"/>
    <a:srgbClr val="E77E32"/>
    <a:srgbClr val="E77E69"/>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9" autoAdjust="0"/>
    <p:restoredTop sz="94660"/>
  </p:normalViewPr>
  <p:slideViewPr>
    <p:cSldViewPr snapToGrid="0">
      <p:cViewPr>
        <p:scale>
          <a:sx n="75" d="100"/>
          <a:sy n="75" d="100"/>
        </p:scale>
        <p:origin x="931" y="5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010C68-B77B-4431-A0A7-693CF58E734A}" type="datetimeFigureOut">
              <a:rPr lang="en-IN" smtClean="0"/>
              <a:t>18-09-2026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B2EA21-F04E-4710-B9FC-7A1962EBE760}" type="slidenum">
              <a:rPr lang="en-IN" smtClean="0"/>
              <a:t>‹#›</a:t>
            </a:fld>
            <a:endParaRPr lang="en-IN"/>
          </a:p>
        </p:txBody>
      </p:sp>
    </p:spTree>
    <p:extLst>
      <p:ext uri="{BB962C8B-B14F-4D97-AF65-F5344CB8AC3E}">
        <p14:creationId xmlns:p14="http://schemas.microsoft.com/office/powerpoint/2010/main" val="1337875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a:t>
            </a:fld>
            <a:endParaRPr lang="en-IN"/>
          </a:p>
        </p:txBody>
      </p:sp>
    </p:spTree>
    <p:extLst>
      <p:ext uri="{BB962C8B-B14F-4D97-AF65-F5344CB8AC3E}">
        <p14:creationId xmlns:p14="http://schemas.microsoft.com/office/powerpoint/2010/main" val="109264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2</a:t>
            </a:fld>
            <a:endParaRPr lang="en-IN"/>
          </a:p>
        </p:txBody>
      </p:sp>
    </p:spTree>
    <p:extLst>
      <p:ext uri="{BB962C8B-B14F-4D97-AF65-F5344CB8AC3E}">
        <p14:creationId xmlns:p14="http://schemas.microsoft.com/office/powerpoint/2010/main" val="1449614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3</a:t>
            </a:fld>
            <a:endParaRPr lang="en-IN"/>
          </a:p>
        </p:txBody>
      </p:sp>
    </p:spTree>
    <p:extLst>
      <p:ext uri="{BB962C8B-B14F-4D97-AF65-F5344CB8AC3E}">
        <p14:creationId xmlns:p14="http://schemas.microsoft.com/office/powerpoint/2010/main" val="1527245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4</a:t>
            </a:fld>
            <a:endParaRPr lang="en-IN"/>
          </a:p>
        </p:txBody>
      </p:sp>
    </p:spTree>
    <p:extLst>
      <p:ext uri="{BB962C8B-B14F-4D97-AF65-F5344CB8AC3E}">
        <p14:creationId xmlns:p14="http://schemas.microsoft.com/office/powerpoint/2010/main" val="30040579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FA56A-26F5-A79A-6EF4-88E32DAEA3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DBF7DF-324B-F0F0-3251-1A45D662A8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3C24F7-AA52-D035-281F-9629DC5B03E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A9B64BC-5123-D5A9-51E1-5C41A7AA9AC9}"/>
              </a:ext>
            </a:extLst>
          </p:cNvPr>
          <p:cNvSpPr>
            <a:spLocks noGrp="1"/>
          </p:cNvSpPr>
          <p:nvPr>
            <p:ph type="sldNum" sz="quarter" idx="10"/>
          </p:nvPr>
        </p:nvSpPr>
        <p:spPr/>
        <p:txBody>
          <a:bodyPr/>
          <a:lstStyle/>
          <a:p>
            <a:fld id="{8DB2EA21-F04E-4710-B9FC-7A1962EBE760}" type="slidenum">
              <a:rPr lang="en-IN" smtClean="0"/>
              <a:t>5</a:t>
            </a:fld>
            <a:endParaRPr lang="en-IN"/>
          </a:p>
        </p:txBody>
      </p:sp>
    </p:spTree>
    <p:extLst>
      <p:ext uri="{BB962C8B-B14F-4D97-AF65-F5344CB8AC3E}">
        <p14:creationId xmlns:p14="http://schemas.microsoft.com/office/powerpoint/2010/main" val="8238487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6</a:t>
            </a:fld>
            <a:endParaRPr lang="en-IN"/>
          </a:p>
        </p:txBody>
      </p:sp>
    </p:spTree>
    <p:extLst>
      <p:ext uri="{BB962C8B-B14F-4D97-AF65-F5344CB8AC3E}">
        <p14:creationId xmlns:p14="http://schemas.microsoft.com/office/powerpoint/2010/main" val="13400167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7</a:t>
            </a:fld>
            <a:endParaRPr lang="en-IN"/>
          </a:p>
        </p:txBody>
      </p:sp>
    </p:spTree>
    <p:extLst>
      <p:ext uri="{BB962C8B-B14F-4D97-AF65-F5344CB8AC3E}">
        <p14:creationId xmlns:p14="http://schemas.microsoft.com/office/powerpoint/2010/main" val="15289082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8</a:t>
            </a:fld>
            <a:endParaRPr lang="en-IN"/>
          </a:p>
        </p:txBody>
      </p:sp>
    </p:spTree>
    <p:extLst>
      <p:ext uri="{BB962C8B-B14F-4D97-AF65-F5344CB8AC3E}">
        <p14:creationId xmlns:p14="http://schemas.microsoft.com/office/powerpoint/2010/main" val="36894807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9</a:t>
            </a:fld>
            <a:endParaRPr lang="en-IN"/>
          </a:p>
        </p:txBody>
      </p:sp>
    </p:spTree>
    <p:extLst>
      <p:ext uri="{BB962C8B-B14F-4D97-AF65-F5344CB8AC3E}">
        <p14:creationId xmlns:p14="http://schemas.microsoft.com/office/powerpoint/2010/main" val="15476075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10</a:t>
            </a:fld>
            <a:endParaRPr lang="en-IN"/>
          </a:p>
        </p:txBody>
      </p:sp>
    </p:spTree>
    <p:extLst>
      <p:ext uri="{BB962C8B-B14F-4D97-AF65-F5344CB8AC3E}">
        <p14:creationId xmlns:p14="http://schemas.microsoft.com/office/powerpoint/2010/main" val="7449386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11</a:t>
            </a:fld>
            <a:endParaRPr lang="en-IN"/>
          </a:p>
        </p:txBody>
      </p:sp>
    </p:spTree>
    <p:extLst>
      <p:ext uri="{BB962C8B-B14F-4D97-AF65-F5344CB8AC3E}">
        <p14:creationId xmlns:p14="http://schemas.microsoft.com/office/powerpoint/2010/main" val="2311426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12</a:t>
            </a:fld>
            <a:endParaRPr lang="en-IN"/>
          </a:p>
        </p:txBody>
      </p:sp>
    </p:spTree>
    <p:extLst>
      <p:ext uri="{BB962C8B-B14F-4D97-AF65-F5344CB8AC3E}">
        <p14:creationId xmlns:p14="http://schemas.microsoft.com/office/powerpoint/2010/main" val="5816996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13</a:t>
            </a:fld>
            <a:endParaRPr lang="en-IN"/>
          </a:p>
        </p:txBody>
      </p:sp>
    </p:spTree>
    <p:extLst>
      <p:ext uri="{BB962C8B-B14F-4D97-AF65-F5344CB8AC3E}">
        <p14:creationId xmlns:p14="http://schemas.microsoft.com/office/powerpoint/2010/main" val="8024167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14</a:t>
            </a:fld>
            <a:endParaRPr lang="en-IN"/>
          </a:p>
        </p:txBody>
      </p:sp>
    </p:spTree>
    <p:extLst>
      <p:ext uri="{BB962C8B-B14F-4D97-AF65-F5344CB8AC3E}">
        <p14:creationId xmlns:p14="http://schemas.microsoft.com/office/powerpoint/2010/main" val="35818955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15</a:t>
            </a:fld>
            <a:endParaRPr lang="en-IN"/>
          </a:p>
        </p:txBody>
      </p:sp>
    </p:spTree>
    <p:extLst>
      <p:ext uri="{BB962C8B-B14F-4D97-AF65-F5344CB8AC3E}">
        <p14:creationId xmlns:p14="http://schemas.microsoft.com/office/powerpoint/2010/main" val="34291307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7534E-BF6C-2CFD-16E9-84EA617213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5280B7E-AAA9-C962-786B-78A0B50E67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E2E0A7F-5868-6266-DF6E-1BBFCC073A0F}"/>
              </a:ext>
            </a:extLst>
          </p:cNvPr>
          <p:cNvSpPr>
            <a:spLocks noGrp="1"/>
          </p:cNvSpPr>
          <p:nvPr>
            <p:ph type="dt" sz="half" idx="10"/>
          </p:nvPr>
        </p:nvSpPr>
        <p:spPr/>
        <p:txBody>
          <a:bodyPr/>
          <a:lstStyle/>
          <a:p>
            <a:fld id="{6F881051-4A15-4975-B283-5AE4382EA000}" type="datetime1">
              <a:rPr lang="en-IN" smtClean="0"/>
              <a:t>18-09-2026</a:t>
            </a:fld>
            <a:endParaRPr lang="en-IN"/>
          </a:p>
        </p:txBody>
      </p:sp>
      <p:sp>
        <p:nvSpPr>
          <p:cNvPr id="5" name="Footer Placeholder 4">
            <a:extLst>
              <a:ext uri="{FF2B5EF4-FFF2-40B4-BE49-F238E27FC236}">
                <a16:creationId xmlns:a16="http://schemas.microsoft.com/office/drawing/2014/main" id="{F7B2573E-23F6-BE97-E5F6-D90496C55B87}"/>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a16="http://schemas.microsoft.com/office/drawing/2014/main" id="{4D7E5366-8A91-F195-6550-6C84F49F44A2}"/>
              </a:ext>
            </a:extLst>
          </p:cNvPr>
          <p:cNvSpPr>
            <a:spLocks noGrp="1"/>
          </p:cNvSpPr>
          <p:nvPr>
            <p:ph type="sldNum" sz="quarter" idx="12"/>
          </p:nvPr>
        </p:nvSpPr>
        <p:spPr/>
        <p:txBody>
          <a:bodyPr/>
          <a:lstStyle/>
          <a:p>
            <a:r>
              <a:rPr lang="en-IN" dirty="0"/>
              <a:t>Slide </a:t>
            </a:r>
            <a:fld id="{0F06A4E2-163B-4ABA-8562-AD05AC3F17C5}" type="slidenum">
              <a:rPr lang="en-IN" smtClean="0"/>
              <a:pPr/>
              <a:t>‹#›</a:t>
            </a:fld>
            <a:r>
              <a:rPr lang="en-IN" dirty="0"/>
              <a:t> 75</a:t>
            </a:r>
          </a:p>
        </p:txBody>
      </p:sp>
    </p:spTree>
    <p:extLst>
      <p:ext uri="{BB962C8B-B14F-4D97-AF65-F5344CB8AC3E}">
        <p14:creationId xmlns:p14="http://schemas.microsoft.com/office/powerpoint/2010/main" val="1787511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9E308-5323-AE5D-6FA7-ED71A6BAE3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5A451D-BD97-7FD0-FF0C-A5112C679A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91E600-3BBF-7179-64F8-7BF678584D79}"/>
              </a:ext>
            </a:extLst>
          </p:cNvPr>
          <p:cNvSpPr>
            <a:spLocks noGrp="1"/>
          </p:cNvSpPr>
          <p:nvPr>
            <p:ph type="dt" sz="half" idx="10"/>
          </p:nvPr>
        </p:nvSpPr>
        <p:spPr/>
        <p:txBody>
          <a:bodyPr/>
          <a:lstStyle/>
          <a:p>
            <a:fld id="{448024DB-6B9A-4615-862D-DCC9162E1D46}" type="datetime1">
              <a:rPr lang="en-IN" smtClean="0"/>
              <a:t>18-09-2026</a:t>
            </a:fld>
            <a:endParaRPr lang="en-IN"/>
          </a:p>
        </p:txBody>
      </p:sp>
      <p:sp>
        <p:nvSpPr>
          <p:cNvPr id="5" name="Footer Placeholder 4">
            <a:extLst>
              <a:ext uri="{FF2B5EF4-FFF2-40B4-BE49-F238E27FC236}">
                <a16:creationId xmlns:a16="http://schemas.microsoft.com/office/drawing/2014/main" id="{B5A049D0-589B-356A-C132-17EC1259BAA1}"/>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a16="http://schemas.microsoft.com/office/drawing/2014/main" id="{4ADB78BB-28AC-EA14-DC42-29260E08FF3D}"/>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3946198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207D0-82DE-FA4A-EADB-1BEC487ABF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C8600A5-5C2C-00C3-916A-DF6214BB9F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B2F5CE-74CC-CF22-710E-082B7D801E88}"/>
              </a:ext>
            </a:extLst>
          </p:cNvPr>
          <p:cNvSpPr>
            <a:spLocks noGrp="1"/>
          </p:cNvSpPr>
          <p:nvPr>
            <p:ph type="dt" sz="half" idx="10"/>
          </p:nvPr>
        </p:nvSpPr>
        <p:spPr/>
        <p:txBody>
          <a:bodyPr/>
          <a:lstStyle/>
          <a:p>
            <a:fld id="{456FCEB4-FD16-4B07-9207-FB300F7B14E0}" type="datetime1">
              <a:rPr lang="en-IN" smtClean="0"/>
              <a:t>18-09-2026</a:t>
            </a:fld>
            <a:endParaRPr lang="en-IN"/>
          </a:p>
        </p:txBody>
      </p:sp>
      <p:sp>
        <p:nvSpPr>
          <p:cNvPr id="5" name="Footer Placeholder 4">
            <a:extLst>
              <a:ext uri="{FF2B5EF4-FFF2-40B4-BE49-F238E27FC236}">
                <a16:creationId xmlns:a16="http://schemas.microsoft.com/office/drawing/2014/main" id="{148AAAD5-EBF3-6851-32E4-D4FBA96C1FDB}"/>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a16="http://schemas.microsoft.com/office/drawing/2014/main" id="{05573601-9A03-2F15-2F0A-327D55FFD25C}"/>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1001875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E6E04-DE19-84EF-6EAD-5E68D54F7A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6136FCB-7A4F-B695-D2E9-54090A9445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5EC53CD-6C00-99BA-5BD0-0E766D3904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DA650DD-602A-CC85-5499-22E0FF3010F3}"/>
              </a:ext>
            </a:extLst>
          </p:cNvPr>
          <p:cNvSpPr>
            <a:spLocks noGrp="1"/>
          </p:cNvSpPr>
          <p:nvPr>
            <p:ph type="dt" sz="half" idx="10"/>
          </p:nvPr>
        </p:nvSpPr>
        <p:spPr/>
        <p:txBody>
          <a:bodyPr/>
          <a:lstStyle/>
          <a:p>
            <a:fld id="{76E49330-105E-4C2D-A945-D7CB0B65AA0D}" type="datetime1">
              <a:rPr lang="en-IN" smtClean="0"/>
              <a:t>18-09-2026</a:t>
            </a:fld>
            <a:endParaRPr lang="en-IN"/>
          </a:p>
        </p:txBody>
      </p:sp>
      <p:sp>
        <p:nvSpPr>
          <p:cNvPr id="6" name="Footer Placeholder 5">
            <a:extLst>
              <a:ext uri="{FF2B5EF4-FFF2-40B4-BE49-F238E27FC236}">
                <a16:creationId xmlns:a16="http://schemas.microsoft.com/office/drawing/2014/main" id="{EB49BBE1-B537-7E2E-C2C4-08845C67D111}"/>
              </a:ext>
            </a:extLst>
          </p:cNvPr>
          <p:cNvSpPr>
            <a:spLocks noGrp="1"/>
          </p:cNvSpPr>
          <p:nvPr>
            <p:ph type="ftr" sz="quarter" idx="11"/>
          </p:nvPr>
        </p:nvSpPr>
        <p:spPr/>
        <p:txBody>
          <a:bodyPr/>
          <a:lstStyle/>
          <a:p>
            <a:r>
              <a:rPr lang="en-IN"/>
              <a:t>VVIT @ Dept. CSM</a:t>
            </a:r>
          </a:p>
        </p:txBody>
      </p:sp>
      <p:sp>
        <p:nvSpPr>
          <p:cNvPr id="7" name="Slide Number Placeholder 6">
            <a:extLst>
              <a:ext uri="{FF2B5EF4-FFF2-40B4-BE49-F238E27FC236}">
                <a16:creationId xmlns:a16="http://schemas.microsoft.com/office/drawing/2014/main" id="{3FF4B757-EF27-F899-BAF4-B18811737387}"/>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2179361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AA2E0-9C62-08C2-AB3E-B35BC5C5A0B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DC222F9-75B3-17FE-C283-DD4BECA435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61EB91-21C0-BA49-75C9-60FD0E0EF9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E401927-DF5C-9C56-8562-7016E65722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9C59F2-F071-5440-8C46-00C73B7D05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0961286-08BE-878F-F428-4DDDD6BC5679}"/>
              </a:ext>
            </a:extLst>
          </p:cNvPr>
          <p:cNvSpPr>
            <a:spLocks noGrp="1"/>
          </p:cNvSpPr>
          <p:nvPr>
            <p:ph type="dt" sz="half" idx="10"/>
          </p:nvPr>
        </p:nvSpPr>
        <p:spPr/>
        <p:txBody>
          <a:bodyPr/>
          <a:lstStyle/>
          <a:p>
            <a:fld id="{B7A2F794-44E1-4BEF-BC28-A1686AB91B35}" type="datetime1">
              <a:rPr lang="en-IN" smtClean="0"/>
              <a:t>18-09-2026</a:t>
            </a:fld>
            <a:endParaRPr lang="en-IN"/>
          </a:p>
        </p:txBody>
      </p:sp>
      <p:sp>
        <p:nvSpPr>
          <p:cNvPr id="8" name="Footer Placeholder 7">
            <a:extLst>
              <a:ext uri="{FF2B5EF4-FFF2-40B4-BE49-F238E27FC236}">
                <a16:creationId xmlns:a16="http://schemas.microsoft.com/office/drawing/2014/main" id="{811F68E0-6F17-B4CD-53C3-DFC164696B83}"/>
              </a:ext>
            </a:extLst>
          </p:cNvPr>
          <p:cNvSpPr>
            <a:spLocks noGrp="1"/>
          </p:cNvSpPr>
          <p:nvPr>
            <p:ph type="ftr" sz="quarter" idx="11"/>
          </p:nvPr>
        </p:nvSpPr>
        <p:spPr/>
        <p:txBody>
          <a:bodyPr/>
          <a:lstStyle/>
          <a:p>
            <a:r>
              <a:rPr lang="en-IN"/>
              <a:t>VVIT @ Dept. CSM</a:t>
            </a:r>
          </a:p>
        </p:txBody>
      </p:sp>
      <p:sp>
        <p:nvSpPr>
          <p:cNvPr id="9" name="Slide Number Placeholder 8">
            <a:extLst>
              <a:ext uri="{FF2B5EF4-FFF2-40B4-BE49-F238E27FC236}">
                <a16:creationId xmlns:a16="http://schemas.microsoft.com/office/drawing/2014/main" id="{41AC4CBA-01B5-C2C4-5335-B4EB35E5A07A}"/>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1242339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03B32-7417-39CF-B839-3EEB29A1C43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F6A2FE7-36B6-6E9C-5856-38F958DDB604}"/>
              </a:ext>
            </a:extLst>
          </p:cNvPr>
          <p:cNvSpPr>
            <a:spLocks noGrp="1"/>
          </p:cNvSpPr>
          <p:nvPr>
            <p:ph type="dt" sz="half" idx="10"/>
          </p:nvPr>
        </p:nvSpPr>
        <p:spPr/>
        <p:txBody>
          <a:bodyPr/>
          <a:lstStyle/>
          <a:p>
            <a:fld id="{D43309A1-C81B-427D-BCEA-27B741B28E1A}" type="datetime1">
              <a:rPr lang="en-IN" smtClean="0"/>
              <a:t>18-09-2026</a:t>
            </a:fld>
            <a:endParaRPr lang="en-IN"/>
          </a:p>
        </p:txBody>
      </p:sp>
      <p:sp>
        <p:nvSpPr>
          <p:cNvPr id="4" name="Footer Placeholder 3">
            <a:extLst>
              <a:ext uri="{FF2B5EF4-FFF2-40B4-BE49-F238E27FC236}">
                <a16:creationId xmlns:a16="http://schemas.microsoft.com/office/drawing/2014/main" id="{BDE31B30-D694-3C06-A324-C1D899945598}"/>
              </a:ext>
            </a:extLst>
          </p:cNvPr>
          <p:cNvSpPr>
            <a:spLocks noGrp="1"/>
          </p:cNvSpPr>
          <p:nvPr>
            <p:ph type="ftr" sz="quarter" idx="11"/>
          </p:nvPr>
        </p:nvSpPr>
        <p:spPr/>
        <p:txBody>
          <a:bodyPr/>
          <a:lstStyle/>
          <a:p>
            <a:r>
              <a:rPr lang="en-IN"/>
              <a:t>VVIT @ Dept. CSM</a:t>
            </a:r>
          </a:p>
        </p:txBody>
      </p:sp>
      <p:sp>
        <p:nvSpPr>
          <p:cNvPr id="5" name="Slide Number Placeholder 4">
            <a:extLst>
              <a:ext uri="{FF2B5EF4-FFF2-40B4-BE49-F238E27FC236}">
                <a16:creationId xmlns:a16="http://schemas.microsoft.com/office/drawing/2014/main" id="{291F9968-5814-8F57-EE5C-05F51ABB341A}"/>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4012534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A244DA-A9F6-ED5C-2118-0A44894C883C}"/>
              </a:ext>
            </a:extLst>
          </p:cNvPr>
          <p:cNvSpPr>
            <a:spLocks noGrp="1"/>
          </p:cNvSpPr>
          <p:nvPr>
            <p:ph type="dt" sz="half" idx="10"/>
          </p:nvPr>
        </p:nvSpPr>
        <p:spPr/>
        <p:txBody>
          <a:bodyPr/>
          <a:lstStyle/>
          <a:p>
            <a:fld id="{3D6757F5-B3DD-41B2-8AD1-E2C7F01E8325}" type="datetime1">
              <a:rPr lang="en-IN" smtClean="0"/>
              <a:t>18-09-2026</a:t>
            </a:fld>
            <a:endParaRPr lang="en-IN"/>
          </a:p>
        </p:txBody>
      </p:sp>
      <p:sp>
        <p:nvSpPr>
          <p:cNvPr id="3" name="Footer Placeholder 2">
            <a:extLst>
              <a:ext uri="{FF2B5EF4-FFF2-40B4-BE49-F238E27FC236}">
                <a16:creationId xmlns:a16="http://schemas.microsoft.com/office/drawing/2014/main" id="{C7500EC8-C1AB-B577-EA4E-7D2E7D7F1C35}"/>
              </a:ext>
            </a:extLst>
          </p:cNvPr>
          <p:cNvSpPr>
            <a:spLocks noGrp="1"/>
          </p:cNvSpPr>
          <p:nvPr>
            <p:ph type="ftr" sz="quarter" idx="11"/>
          </p:nvPr>
        </p:nvSpPr>
        <p:spPr/>
        <p:txBody>
          <a:bodyPr/>
          <a:lstStyle/>
          <a:p>
            <a:r>
              <a:rPr lang="en-IN"/>
              <a:t>VVIT @ Dept. CSM</a:t>
            </a:r>
          </a:p>
        </p:txBody>
      </p:sp>
      <p:sp>
        <p:nvSpPr>
          <p:cNvPr id="4" name="Slide Number Placeholder 3">
            <a:extLst>
              <a:ext uri="{FF2B5EF4-FFF2-40B4-BE49-F238E27FC236}">
                <a16:creationId xmlns:a16="http://schemas.microsoft.com/office/drawing/2014/main" id="{0B839834-7C1C-DD95-00F7-1046CC02C973}"/>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329420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0408B-6746-EBBF-A1B8-482E0D54EF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2DA8A51-0194-E201-F62E-7028F44903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DADF6D2-0007-C8C6-5E66-A73252FA51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D9C60F-EE63-63C0-A3C9-201A1DEB63F4}"/>
              </a:ext>
            </a:extLst>
          </p:cNvPr>
          <p:cNvSpPr>
            <a:spLocks noGrp="1"/>
          </p:cNvSpPr>
          <p:nvPr>
            <p:ph type="dt" sz="half" idx="10"/>
          </p:nvPr>
        </p:nvSpPr>
        <p:spPr/>
        <p:txBody>
          <a:bodyPr/>
          <a:lstStyle/>
          <a:p>
            <a:fld id="{32632F12-6279-426C-8A42-8E638B69DA5E}" type="datetime1">
              <a:rPr lang="en-IN" smtClean="0"/>
              <a:t>18-09-2026</a:t>
            </a:fld>
            <a:endParaRPr lang="en-IN"/>
          </a:p>
        </p:txBody>
      </p:sp>
      <p:sp>
        <p:nvSpPr>
          <p:cNvPr id="6" name="Footer Placeholder 5">
            <a:extLst>
              <a:ext uri="{FF2B5EF4-FFF2-40B4-BE49-F238E27FC236}">
                <a16:creationId xmlns:a16="http://schemas.microsoft.com/office/drawing/2014/main" id="{71E88CB9-B2B4-DD3C-DF42-5FF8C80C0643}"/>
              </a:ext>
            </a:extLst>
          </p:cNvPr>
          <p:cNvSpPr>
            <a:spLocks noGrp="1"/>
          </p:cNvSpPr>
          <p:nvPr>
            <p:ph type="ftr" sz="quarter" idx="11"/>
          </p:nvPr>
        </p:nvSpPr>
        <p:spPr/>
        <p:txBody>
          <a:bodyPr/>
          <a:lstStyle/>
          <a:p>
            <a:r>
              <a:rPr lang="en-IN"/>
              <a:t>VVIT @ Dept. CSM</a:t>
            </a:r>
          </a:p>
        </p:txBody>
      </p:sp>
      <p:sp>
        <p:nvSpPr>
          <p:cNvPr id="7" name="Slide Number Placeholder 6">
            <a:extLst>
              <a:ext uri="{FF2B5EF4-FFF2-40B4-BE49-F238E27FC236}">
                <a16:creationId xmlns:a16="http://schemas.microsoft.com/office/drawing/2014/main" id="{5B5FCC53-DC75-9AFB-03C5-B065AC50C19F}"/>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4045669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614FA-37B6-93A5-E0E8-E926B53682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80E05A2-0EA7-C30C-EFFA-E0B149436A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8B07175-07C8-0612-615D-57BF8C0741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236AA1-2BD7-CB7C-1AA4-34D02985A83E}"/>
              </a:ext>
            </a:extLst>
          </p:cNvPr>
          <p:cNvSpPr>
            <a:spLocks noGrp="1"/>
          </p:cNvSpPr>
          <p:nvPr>
            <p:ph type="dt" sz="half" idx="10"/>
          </p:nvPr>
        </p:nvSpPr>
        <p:spPr/>
        <p:txBody>
          <a:bodyPr/>
          <a:lstStyle/>
          <a:p>
            <a:fld id="{2ABB4110-22B7-47D9-9F58-54C5B302AF6D}" type="datetime1">
              <a:rPr lang="en-IN" smtClean="0"/>
              <a:t>18-09-2026</a:t>
            </a:fld>
            <a:endParaRPr lang="en-IN"/>
          </a:p>
        </p:txBody>
      </p:sp>
      <p:sp>
        <p:nvSpPr>
          <p:cNvPr id="6" name="Footer Placeholder 5">
            <a:extLst>
              <a:ext uri="{FF2B5EF4-FFF2-40B4-BE49-F238E27FC236}">
                <a16:creationId xmlns:a16="http://schemas.microsoft.com/office/drawing/2014/main" id="{37CC2950-CA0B-091E-E2BA-A60E75FD6138}"/>
              </a:ext>
            </a:extLst>
          </p:cNvPr>
          <p:cNvSpPr>
            <a:spLocks noGrp="1"/>
          </p:cNvSpPr>
          <p:nvPr>
            <p:ph type="ftr" sz="quarter" idx="11"/>
          </p:nvPr>
        </p:nvSpPr>
        <p:spPr/>
        <p:txBody>
          <a:bodyPr/>
          <a:lstStyle/>
          <a:p>
            <a:r>
              <a:rPr lang="en-IN"/>
              <a:t>VVIT @ Dept. CSM</a:t>
            </a:r>
          </a:p>
        </p:txBody>
      </p:sp>
      <p:sp>
        <p:nvSpPr>
          <p:cNvPr id="7" name="Slide Number Placeholder 6">
            <a:extLst>
              <a:ext uri="{FF2B5EF4-FFF2-40B4-BE49-F238E27FC236}">
                <a16:creationId xmlns:a16="http://schemas.microsoft.com/office/drawing/2014/main" id="{EB068AF4-0554-5223-D39A-DA1DC68D03CE}"/>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2176639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E9AE2-374C-4EF3-9532-31D0CE1D4F8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D2E305-5684-04F7-337B-C867ECD394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744A89-E93B-DDA0-25FF-C2242EE97D80}"/>
              </a:ext>
            </a:extLst>
          </p:cNvPr>
          <p:cNvSpPr>
            <a:spLocks noGrp="1"/>
          </p:cNvSpPr>
          <p:nvPr>
            <p:ph type="dt" sz="half" idx="10"/>
          </p:nvPr>
        </p:nvSpPr>
        <p:spPr/>
        <p:txBody>
          <a:bodyPr/>
          <a:lstStyle/>
          <a:p>
            <a:fld id="{80575400-B1DF-4AF6-AB50-CBCE8962669C}" type="datetime1">
              <a:rPr lang="en-IN" smtClean="0"/>
              <a:t>18-09-2026</a:t>
            </a:fld>
            <a:endParaRPr lang="en-IN"/>
          </a:p>
        </p:txBody>
      </p:sp>
      <p:sp>
        <p:nvSpPr>
          <p:cNvPr id="5" name="Footer Placeholder 4">
            <a:extLst>
              <a:ext uri="{FF2B5EF4-FFF2-40B4-BE49-F238E27FC236}">
                <a16:creationId xmlns:a16="http://schemas.microsoft.com/office/drawing/2014/main" id="{CBDDB2AC-EE20-661D-48EC-09C572C9F8E2}"/>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a16="http://schemas.microsoft.com/office/drawing/2014/main" id="{9DA2A3F4-0238-70CC-420E-0F280FECAE9F}"/>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3621956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A41AF6-9AAD-E282-9DDD-E66CF88ADC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CF3A46-D4B7-3837-9A94-A663DE2A25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B33946-DFAA-48C8-71CA-3B2501710AE7}"/>
              </a:ext>
            </a:extLst>
          </p:cNvPr>
          <p:cNvSpPr>
            <a:spLocks noGrp="1"/>
          </p:cNvSpPr>
          <p:nvPr>
            <p:ph type="dt" sz="half" idx="10"/>
          </p:nvPr>
        </p:nvSpPr>
        <p:spPr/>
        <p:txBody>
          <a:bodyPr/>
          <a:lstStyle/>
          <a:p>
            <a:fld id="{E8A8D284-3CDB-49DE-A927-05878722C64F}" type="datetime1">
              <a:rPr lang="en-IN" smtClean="0"/>
              <a:t>18-09-2026</a:t>
            </a:fld>
            <a:endParaRPr lang="en-IN"/>
          </a:p>
        </p:txBody>
      </p:sp>
      <p:sp>
        <p:nvSpPr>
          <p:cNvPr id="5" name="Footer Placeholder 4">
            <a:extLst>
              <a:ext uri="{FF2B5EF4-FFF2-40B4-BE49-F238E27FC236}">
                <a16:creationId xmlns:a16="http://schemas.microsoft.com/office/drawing/2014/main" id="{437106D7-F25C-47BB-2611-089736A84EF9}"/>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a16="http://schemas.microsoft.com/office/drawing/2014/main" id="{9FE811E5-1590-562C-784B-5F2A1B3D365F}"/>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2585821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EF6F91-B629-DA42-57EF-31DA782B6B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ECB1-08ED-AF18-FDF8-8FE7F9F7D6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CC7C5D-06B8-2007-9878-FF4B74A5DC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2B7110-61B4-45BA-A110-4FCE83D5E720}" type="datetime1">
              <a:rPr lang="en-IN" smtClean="0"/>
              <a:t>18-09-2026</a:t>
            </a:fld>
            <a:endParaRPr lang="en-IN"/>
          </a:p>
        </p:txBody>
      </p:sp>
      <p:sp>
        <p:nvSpPr>
          <p:cNvPr id="5" name="Footer Placeholder 4">
            <a:extLst>
              <a:ext uri="{FF2B5EF4-FFF2-40B4-BE49-F238E27FC236}">
                <a16:creationId xmlns:a16="http://schemas.microsoft.com/office/drawing/2014/main" id="{0638ADC9-EB89-D372-7DE5-F164AC424E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VVIT @ Dept. CSM</a:t>
            </a:r>
          </a:p>
        </p:txBody>
      </p:sp>
      <p:sp>
        <p:nvSpPr>
          <p:cNvPr id="6" name="Slide Number Placeholder 5">
            <a:extLst>
              <a:ext uri="{FF2B5EF4-FFF2-40B4-BE49-F238E27FC236}">
                <a16:creationId xmlns:a16="http://schemas.microsoft.com/office/drawing/2014/main" id="{454E92DD-B99B-9C26-E756-4CB70ABD4D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06A4E2-163B-4ABA-8562-AD05AC3F17C5}" type="slidenum">
              <a:rPr lang="en-IN" smtClean="0"/>
              <a:t>‹#›</a:t>
            </a:fld>
            <a:endParaRPr lang="en-IN"/>
          </a:p>
        </p:txBody>
      </p:sp>
    </p:spTree>
    <p:extLst>
      <p:ext uri="{BB962C8B-B14F-4D97-AF65-F5344CB8AC3E}">
        <p14:creationId xmlns:p14="http://schemas.microsoft.com/office/powerpoint/2010/main" val="21667263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B1A8B0-3C3E-4DAC-946D-F1A2452D5558}" type="datetime1">
              <a:rPr lang="en-IN" smtClean="0">
                <a:solidFill>
                  <a:srgbClr val="E77E69"/>
                </a:solidFill>
              </a:rPr>
              <a:t>18-09-2026</a:t>
            </a:fld>
            <a:endParaRPr lang="en-IN" dirty="0">
              <a:solidFill>
                <a:srgbClr val="E77E69"/>
              </a:solidFill>
            </a:endParaRPr>
          </a:p>
        </p:txBody>
      </p:sp>
      <p:sp>
        <p:nvSpPr>
          <p:cNvPr id="4" name="Slide Number Placeholder 3"/>
          <p:cNvSpPr>
            <a:spLocks noGrp="1"/>
          </p:cNvSpPr>
          <p:nvPr>
            <p:ph type="sldNum" sz="quarter" idx="12"/>
          </p:nvPr>
        </p:nvSpPr>
        <p:spPr/>
        <p:txBody>
          <a:bodyPr/>
          <a:lstStyle/>
          <a:p>
            <a:fld id="{0F06A4E2-163B-4ABA-8562-AD05AC3F17C5}" type="slidenum">
              <a:rPr lang="en-IN" smtClean="0">
                <a:solidFill>
                  <a:srgbClr val="E77E69"/>
                </a:solidFill>
              </a:rPr>
              <a:t>1</a:t>
            </a:fld>
            <a:endParaRPr lang="en-IN" dirty="0">
              <a:solidFill>
                <a:srgbClr val="E77E69"/>
              </a:solidFill>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08880" y="223842"/>
            <a:ext cx="2174240" cy="1517438"/>
          </a:xfrm>
          <a:prstGeom prst="rect">
            <a:avLst/>
          </a:prstGeom>
        </p:spPr>
      </p:pic>
      <p:sp>
        <p:nvSpPr>
          <p:cNvPr id="6" name="TextBox 5"/>
          <p:cNvSpPr txBox="1"/>
          <p:nvPr/>
        </p:nvSpPr>
        <p:spPr>
          <a:xfrm>
            <a:off x="1184698" y="1714110"/>
            <a:ext cx="9822608" cy="954107"/>
          </a:xfrm>
          <a:prstGeom prst="rect">
            <a:avLst/>
          </a:prstGeom>
          <a:noFill/>
        </p:spPr>
        <p:txBody>
          <a:bodyPr wrap="square" rtlCol="0">
            <a:spAutoFit/>
          </a:bodyPr>
          <a:lstStyle/>
          <a:p>
            <a:pPr algn="ctr"/>
            <a:r>
              <a:rPr lang="en-IN" sz="2800" dirty="0">
                <a:latin typeface="Times New Roman" panose="02020603050405020304" pitchFamily="18" charset="0"/>
                <a:cs typeface="Times New Roman" panose="02020603050405020304" pitchFamily="18" charset="0"/>
              </a:rPr>
              <a:t>Multi-Agent AI Business Assistant for Intelligent Enterprise Workflow Automation </a:t>
            </a:r>
          </a:p>
        </p:txBody>
      </p:sp>
      <p:sp>
        <p:nvSpPr>
          <p:cNvPr id="7" name="TextBox 6"/>
          <p:cNvSpPr txBox="1"/>
          <p:nvPr/>
        </p:nvSpPr>
        <p:spPr>
          <a:xfrm>
            <a:off x="4864925" y="2751597"/>
            <a:ext cx="2531462" cy="369332"/>
          </a:xfrm>
          <a:prstGeom prst="rect">
            <a:avLst/>
          </a:prstGeom>
          <a:noFill/>
        </p:spPr>
        <p:txBody>
          <a:bodyPr wrap="none" rtlCol="0">
            <a:spAutoFit/>
          </a:bodyPr>
          <a:lstStyle/>
          <a:p>
            <a:r>
              <a:rPr lang="en-IN" dirty="0">
                <a:solidFill>
                  <a:srgbClr val="E77E69"/>
                </a:solidFill>
                <a:latin typeface="Times New Roman" panose="02020603050405020304" pitchFamily="18" charset="0"/>
                <a:cs typeface="Times New Roman" panose="02020603050405020304" pitchFamily="18" charset="0"/>
              </a:rPr>
              <a:t>Major Project Review - 1</a:t>
            </a:r>
          </a:p>
        </p:txBody>
      </p:sp>
      <p:sp>
        <p:nvSpPr>
          <p:cNvPr id="8" name="TextBox 7"/>
          <p:cNvSpPr txBox="1"/>
          <p:nvPr/>
        </p:nvSpPr>
        <p:spPr>
          <a:xfrm>
            <a:off x="4996982" y="3102396"/>
            <a:ext cx="2198038" cy="369332"/>
          </a:xfrm>
          <a:prstGeom prst="rect">
            <a:avLst/>
          </a:prstGeom>
          <a:noFill/>
        </p:spPr>
        <p:txBody>
          <a:bodyPr wrap="none" rtlCol="0">
            <a:spAutoFit/>
          </a:bodyPr>
          <a:lstStyle/>
          <a:p>
            <a:pPr algn="ctr"/>
            <a:r>
              <a:rPr lang="en-IN" dirty="0">
                <a:latin typeface="Times New Roman" panose="02020603050405020304" pitchFamily="18" charset="0"/>
                <a:cs typeface="Times New Roman" panose="02020603050405020304" pitchFamily="18" charset="0"/>
              </a:rPr>
              <a:t>Batch ID:AIML- C05</a:t>
            </a:r>
          </a:p>
        </p:txBody>
      </p:sp>
      <p:sp>
        <p:nvSpPr>
          <p:cNvPr id="9" name="TextBox 8"/>
          <p:cNvSpPr txBox="1"/>
          <p:nvPr/>
        </p:nvSpPr>
        <p:spPr>
          <a:xfrm>
            <a:off x="2164885" y="4841655"/>
            <a:ext cx="2402709" cy="646331"/>
          </a:xfrm>
          <a:prstGeom prst="rect">
            <a:avLst/>
          </a:prstGeom>
          <a:noFill/>
        </p:spPr>
        <p:txBody>
          <a:bodyPr wrap="none" rtlCol="0">
            <a:spAutoFit/>
          </a:bodyPr>
          <a:lstStyle/>
          <a:p>
            <a:pPr algn="ctr"/>
            <a:r>
              <a:rPr lang="en-IN" dirty="0">
                <a:latin typeface="Times New Roman" panose="02020603050405020304" pitchFamily="18" charset="0"/>
                <a:cs typeface="Times New Roman" panose="02020603050405020304" pitchFamily="18" charset="0"/>
              </a:rPr>
              <a:t>Dr. </a:t>
            </a:r>
            <a:r>
              <a:rPr lang="en-IN" dirty="0" err="1">
                <a:latin typeface="Times New Roman" panose="02020603050405020304" pitchFamily="18" charset="0"/>
                <a:cs typeface="Times New Roman" panose="02020603050405020304" pitchFamily="18" charset="0"/>
              </a:rPr>
              <a:t>Nuthi</a:t>
            </a:r>
            <a:r>
              <a:rPr lang="en-IN" dirty="0">
                <a:latin typeface="Times New Roman" panose="02020603050405020304" pitchFamily="18" charset="0"/>
                <a:cs typeface="Times New Roman" panose="02020603050405020304" pitchFamily="18" charset="0"/>
              </a:rPr>
              <a:t> Raju</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Professor, AIML, VVIT</a:t>
            </a:r>
          </a:p>
        </p:txBody>
      </p:sp>
      <p:sp>
        <p:nvSpPr>
          <p:cNvPr id="10" name="TextBox 9"/>
          <p:cNvSpPr txBox="1"/>
          <p:nvPr/>
        </p:nvSpPr>
        <p:spPr>
          <a:xfrm>
            <a:off x="7636329" y="4315108"/>
            <a:ext cx="2608535" cy="400110"/>
          </a:xfrm>
          <a:prstGeom prst="rect">
            <a:avLst/>
          </a:prstGeom>
          <a:noFill/>
        </p:spPr>
        <p:txBody>
          <a:bodyPr wrap="none" rtlCol="0">
            <a:spAutoFit/>
          </a:bodyPr>
          <a:lstStyle/>
          <a:p>
            <a:pPr algn="ctr"/>
            <a:r>
              <a:rPr lang="en-IN" sz="2000" i="1" dirty="0">
                <a:solidFill>
                  <a:srgbClr val="E77E69"/>
                </a:solidFill>
                <a:latin typeface="Times New Roman" panose="02020603050405020304" pitchFamily="18" charset="0"/>
                <a:cs typeface="Times New Roman" panose="02020603050405020304" pitchFamily="18" charset="0"/>
              </a:rPr>
              <a:t>Project Batch Members</a:t>
            </a:r>
          </a:p>
        </p:txBody>
      </p:sp>
      <p:sp>
        <p:nvSpPr>
          <p:cNvPr id="12" name="TextBox 11"/>
          <p:cNvSpPr txBox="1"/>
          <p:nvPr/>
        </p:nvSpPr>
        <p:spPr>
          <a:xfrm>
            <a:off x="6913359" y="4866633"/>
            <a:ext cx="5342810" cy="1477328"/>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Thulluru Sai Sree – 23BQ1A61D8</a:t>
            </a:r>
            <a:br>
              <a:rPr lang="en-IN" dirty="0">
                <a:latin typeface="Times New Roman" panose="02020603050405020304" pitchFamily="18" charset="0"/>
                <a:cs typeface="Times New Roman" panose="02020603050405020304" pitchFamily="18" charset="0"/>
              </a:rPr>
            </a:br>
            <a:r>
              <a:rPr lang="en-IN" dirty="0" err="1">
                <a:latin typeface="Times New Roman" panose="02020603050405020304" pitchFamily="18" charset="0"/>
                <a:cs typeface="Times New Roman" panose="02020603050405020304" pitchFamily="18" charset="0"/>
              </a:rPr>
              <a:t>Regalagadda</a:t>
            </a:r>
            <a:r>
              <a:rPr lang="en-IN" dirty="0">
                <a:latin typeface="Times New Roman" panose="02020603050405020304" pitchFamily="18" charset="0"/>
                <a:cs typeface="Times New Roman" panose="02020603050405020304" pitchFamily="18" charset="0"/>
              </a:rPr>
              <a:t> Bhanu Prakash – 23BQ1A61B8</a:t>
            </a:r>
          </a:p>
          <a:p>
            <a:r>
              <a:rPr lang="en-IN" dirty="0" err="1"/>
              <a:t>Sowdagar</a:t>
            </a:r>
            <a:r>
              <a:rPr lang="en-IN" dirty="0"/>
              <a:t> </a:t>
            </a:r>
            <a:r>
              <a:rPr lang="en-IN" dirty="0" err="1"/>
              <a:t>Thabasum</a:t>
            </a:r>
            <a:r>
              <a:rPr lang="en-IN" dirty="0"/>
              <a:t> – 23BQ1A61D3</a:t>
            </a:r>
            <a:br>
              <a:rPr lang="en-IN" dirty="0"/>
            </a:br>
            <a:r>
              <a:rPr lang="en-IN" dirty="0" err="1"/>
              <a:t>Vankodoth</a:t>
            </a:r>
            <a:r>
              <a:rPr lang="en-IN" dirty="0"/>
              <a:t> Bhagavan Naik – 23BQ1A61E7</a:t>
            </a:r>
          </a:p>
          <a:p>
            <a:endParaRPr lang="en-IN"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2556497" y="4315108"/>
            <a:ext cx="1619482" cy="400110"/>
          </a:xfrm>
          <a:prstGeom prst="rect">
            <a:avLst/>
          </a:prstGeom>
          <a:noFill/>
        </p:spPr>
        <p:txBody>
          <a:bodyPr wrap="none" rtlCol="0">
            <a:spAutoFit/>
          </a:bodyPr>
          <a:lstStyle/>
          <a:p>
            <a:pPr algn="ctr"/>
            <a:r>
              <a:rPr lang="en-IN" sz="2000" i="1" dirty="0">
                <a:solidFill>
                  <a:srgbClr val="E77E69"/>
                </a:solidFill>
                <a:latin typeface="Times New Roman" panose="02020603050405020304" pitchFamily="18" charset="0"/>
                <a:cs typeface="Times New Roman" panose="02020603050405020304" pitchFamily="18" charset="0"/>
              </a:rPr>
              <a:t>Project Guide</a:t>
            </a:r>
          </a:p>
        </p:txBody>
      </p:sp>
      <p:sp>
        <p:nvSpPr>
          <p:cNvPr id="15"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rgbClr val="E77E32"/>
                </a:solidFill>
              </a:rPr>
              <a:t>Dept. CSM @ VVIT</a:t>
            </a:r>
          </a:p>
        </p:txBody>
      </p:sp>
    </p:spTree>
    <p:extLst>
      <p:ext uri="{BB962C8B-B14F-4D97-AF65-F5344CB8AC3E}">
        <p14:creationId xmlns:p14="http://schemas.microsoft.com/office/powerpoint/2010/main" val="501989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18-09-2026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2</a:t>
            </a:fld>
            <a:endParaRPr lang="en-IN" sz="1800" dirty="0">
              <a:solidFill>
                <a:schemeClr val="tx1"/>
              </a:solidFill>
            </a:endParaRPr>
          </a:p>
        </p:txBody>
      </p:sp>
      <p:sp>
        <p:nvSpPr>
          <p:cNvPr id="2" name="TextBox 1">
            <a:extLst>
              <a:ext uri="{FF2B5EF4-FFF2-40B4-BE49-F238E27FC236}">
                <a16:creationId xmlns:a16="http://schemas.microsoft.com/office/drawing/2014/main" id="{50EC79EE-C1C4-E275-0987-67B7B3A60CCB}"/>
              </a:ext>
            </a:extLst>
          </p:cNvPr>
          <p:cNvSpPr txBox="1"/>
          <p:nvPr/>
        </p:nvSpPr>
        <p:spPr>
          <a:xfrm>
            <a:off x="8855242" y="31393"/>
            <a:ext cx="3248267"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a:t>
            </a:r>
            <a:r>
              <a:rPr lang="en-IN" sz="1200" dirty="0" err="1">
                <a:latin typeface="Times New Roman" panose="02020603050405020304" pitchFamily="18" charset="0"/>
                <a:cs typeface="Times New Roman" panose="02020603050405020304" pitchFamily="18" charset="0"/>
              </a:rPr>
              <a:t>Nuthi</a:t>
            </a:r>
            <a:r>
              <a:rPr lang="en-IN" sz="1200" dirty="0">
                <a:latin typeface="Times New Roman" panose="02020603050405020304" pitchFamily="18" charset="0"/>
                <a:cs typeface="Times New Roman" panose="02020603050405020304" pitchFamily="18" charset="0"/>
              </a:rPr>
              <a:t> Raju</a:t>
            </a:r>
          </a:p>
          <a:p>
            <a:r>
              <a:rPr lang="en-IN" sz="1200" dirty="0">
                <a:latin typeface="Times New Roman" panose="02020603050405020304" pitchFamily="18" charset="0"/>
                <a:cs typeface="Times New Roman" panose="02020603050405020304" pitchFamily="18" charset="0"/>
              </a:rPr>
              <a:t>Batch ID: C05</a:t>
            </a: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No:23BQ1A61D8,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No:23BQ1A61B8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No:23BQ1A61D3,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No:23BQ1A61E7</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Multi-Agent AI Business Assistant for Intelligent Enterprise Workflow Automation </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9" name="TextBox 8">
            <a:extLst>
              <a:ext uri="{FF2B5EF4-FFF2-40B4-BE49-F238E27FC236}">
                <a16:creationId xmlns:a16="http://schemas.microsoft.com/office/drawing/2014/main" id="{2A60D627-94EE-32E8-5D49-EB3742AD9FD2}"/>
              </a:ext>
            </a:extLst>
          </p:cNvPr>
          <p:cNvSpPr txBox="1"/>
          <p:nvPr/>
        </p:nvSpPr>
        <p:spPr>
          <a:xfrm flipH="1">
            <a:off x="183368" y="1206606"/>
            <a:ext cx="11920141" cy="4801314"/>
          </a:xfrm>
          <a:prstGeom prst="rect">
            <a:avLst/>
          </a:prstGeom>
          <a:noFill/>
        </p:spPr>
        <p:txBody>
          <a:bodyPr wrap="square" rtlCol="0">
            <a:spAutoFit/>
          </a:bodyPr>
          <a:lstStyle/>
          <a:p>
            <a:r>
              <a:rPr lang="en-IN" sz="2800" b="1" dirty="0">
                <a:solidFill>
                  <a:srgbClr val="FF0000"/>
                </a:solidFill>
                <a:latin typeface="Times New Roman" panose="02020603050405020304" pitchFamily="18" charset="0"/>
                <a:cs typeface="Times New Roman" panose="02020603050405020304" pitchFamily="18" charset="0"/>
              </a:rPr>
              <a:t>Content:</a:t>
            </a:r>
          </a:p>
          <a:p>
            <a:endParaRPr lang="en-IN" sz="2400" b="1" dirty="0">
              <a:latin typeface="Times New Roman" panose="02020603050405020304" pitchFamily="18" charset="0"/>
              <a:cs typeface="Times New Roman" panose="02020603050405020304" pitchFamily="18" charset="0"/>
            </a:endParaRPr>
          </a:p>
          <a:p>
            <a:pPr marL="342900" lvl="0" indent="-342900">
              <a:buFont typeface="+mj-lt"/>
              <a:buAutoNum type="arabicPeriod"/>
            </a:pPr>
            <a:r>
              <a:rPr lang="en-IN" sz="2400" dirty="0">
                <a:latin typeface="Times New Roman" panose="02020603050405020304" pitchFamily="18" charset="0"/>
                <a:cs typeface="Times New Roman" panose="02020603050405020304" pitchFamily="18" charset="0"/>
              </a:rPr>
              <a:t>Problem Statement </a:t>
            </a:r>
          </a:p>
          <a:p>
            <a:pPr marL="342900" lvl="0" indent="-342900">
              <a:buFont typeface="+mj-lt"/>
              <a:buAutoNum type="arabicPeriod"/>
            </a:pPr>
            <a:r>
              <a:rPr lang="en-IN" sz="2400" dirty="0">
                <a:latin typeface="Times New Roman" panose="02020603050405020304" pitchFamily="18" charset="0"/>
                <a:cs typeface="Times New Roman" panose="02020603050405020304" pitchFamily="18" charset="0"/>
              </a:rPr>
              <a:t>Proposed Method </a:t>
            </a:r>
          </a:p>
          <a:p>
            <a:pPr marL="342900" lvl="0" indent="-342900">
              <a:buFont typeface="+mj-lt"/>
              <a:buAutoNum type="arabicPeriod"/>
            </a:pPr>
            <a:r>
              <a:rPr lang="en-IN" sz="2400" dirty="0">
                <a:latin typeface="Times New Roman" panose="02020603050405020304" pitchFamily="18" charset="0"/>
                <a:cs typeface="Times New Roman" panose="02020603050405020304" pitchFamily="18" charset="0"/>
              </a:rPr>
              <a:t>Real-World Example </a:t>
            </a:r>
          </a:p>
          <a:p>
            <a:pPr marL="342900" lvl="0" indent="-342900">
              <a:buFont typeface="+mj-lt"/>
              <a:buAutoNum type="arabicPeriod"/>
            </a:pPr>
            <a:r>
              <a:rPr lang="en-IN" sz="2400" dirty="0">
                <a:latin typeface="Times New Roman" panose="02020603050405020304" pitchFamily="18" charset="0"/>
                <a:cs typeface="Times New Roman" panose="02020603050405020304" pitchFamily="18" charset="0"/>
              </a:rPr>
              <a:t>Literature Review </a:t>
            </a:r>
          </a:p>
          <a:p>
            <a:pPr marL="800100" lvl="1" indent="-342900">
              <a:buFont typeface="+mj-lt"/>
              <a:buAutoNum type="arabicPeriod"/>
            </a:pPr>
            <a:r>
              <a:rPr lang="en-IN" sz="2400" dirty="0">
                <a:latin typeface="Times New Roman" panose="02020603050405020304" pitchFamily="18" charset="0"/>
                <a:cs typeface="Times New Roman" panose="02020603050405020304" pitchFamily="18" charset="0"/>
              </a:rPr>
              <a:t>Ref 01 – </a:t>
            </a:r>
            <a:r>
              <a:rPr lang="en-IN" sz="2400" dirty="0" err="1">
                <a:latin typeface="Times New Roman" panose="02020603050405020304" pitchFamily="18" charset="0"/>
                <a:cs typeface="Times New Roman" panose="02020603050405020304" pitchFamily="18" charset="0"/>
              </a:rPr>
              <a:t>DeCoAgent</a:t>
            </a:r>
            <a:r>
              <a:rPr lang="en-IN" sz="2400" dirty="0">
                <a:latin typeface="Times New Roman" panose="02020603050405020304" pitchFamily="18" charset="0"/>
                <a:cs typeface="Times New Roman" panose="02020603050405020304" pitchFamily="18" charset="0"/>
              </a:rPr>
              <a:t>: LLM Empowered Decentralized Collaboration Agents </a:t>
            </a:r>
          </a:p>
          <a:p>
            <a:pPr marL="800100" lvl="1" indent="-342900">
              <a:buFont typeface="+mj-lt"/>
              <a:buAutoNum type="arabicPeriod"/>
            </a:pPr>
            <a:r>
              <a:rPr lang="en-IN" sz="2400" dirty="0">
                <a:latin typeface="Times New Roman" panose="02020603050405020304" pitchFamily="18" charset="0"/>
                <a:cs typeface="Times New Roman" panose="02020603050405020304" pitchFamily="18" charset="0"/>
              </a:rPr>
              <a:t>Ref 02 – An Explainable AI Multi-Agent Recommender System </a:t>
            </a:r>
          </a:p>
          <a:p>
            <a:pPr marL="800100" lvl="1" indent="-342900">
              <a:buFont typeface="+mj-lt"/>
              <a:buAutoNum type="arabicPeriod"/>
            </a:pPr>
            <a:r>
              <a:rPr lang="en-IN" sz="2400" dirty="0">
                <a:latin typeface="Times New Roman" panose="02020603050405020304" pitchFamily="18" charset="0"/>
                <a:cs typeface="Times New Roman" panose="02020603050405020304" pitchFamily="18" charset="0"/>
              </a:rPr>
              <a:t>Ref 03 – Hybrid Multi-Agent </a:t>
            </a:r>
            <a:r>
              <a:rPr lang="en-IN" sz="2400" dirty="0" err="1">
                <a:latin typeface="Times New Roman" panose="02020603050405020304" pitchFamily="18" charset="0"/>
                <a:cs typeface="Times New Roman" panose="02020603050405020304" pitchFamily="18" charset="0"/>
              </a:rPr>
              <a:t>GraphRAG</a:t>
            </a:r>
            <a:r>
              <a:rPr lang="en-IN" sz="2400" dirty="0">
                <a:latin typeface="Times New Roman" panose="02020603050405020304" pitchFamily="18" charset="0"/>
                <a:cs typeface="Times New Roman" panose="02020603050405020304" pitchFamily="18" charset="0"/>
              </a:rPr>
              <a:t> for E-Government </a:t>
            </a:r>
          </a:p>
          <a:p>
            <a:pPr marL="342900" lvl="0" indent="-342900">
              <a:buFont typeface="+mj-lt"/>
              <a:buAutoNum type="arabicPeriod"/>
            </a:pPr>
            <a:r>
              <a:rPr lang="en-IN" sz="2400" dirty="0">
                <a:latin typeface="Times New Roman" panose="02020603050405020304" pitchFamily="18" charset="0"/>
                <a:cs typeface="Times New Roman" panose="02020603050405020304" pitchFamily="18" charset="0"/>
              </a:rPr>
              <a:t>Literature Review Summary </a:t>
            </a:r>
          </a:p>
          <a:p>
            <a:pPr marL="342900" lvl="0" indent="-342900">
              <a:buFont typeface="+mj-lt"/>
              <a:buAutoNum type="arabicPeriod"/>
            </a:pPr>
            <a:r>
              <a:rPr lang="en-IN" sz="2400" dirty="0">
                <a:latin typeface="Times New Roman" panose="02020603050405020304" pitchFamily="18" charset="0"/>
                <a:cs typeface="Times New Roman" panose="02020603050405020304" pitchFamily="18" charset="0"/>
              </a:rPr>
              <a:t>Conclusion </a:t>
            </a:r>
          </a:p>
          <a:p>
            <a:endParaRPr lang="en-IN" sz="2000"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02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18-09-2026</a:t>
            </a:fld>
            <a:endParaRPr lang="en-IN" dirty="0">
              <a:solidFill>
                <a:schemeClr val="tx1"/>
              </a:solidFill>
            </a:endParaRPr>
          </a:p>
        </p:txBody>
      </p:sp>
      <p:sp>
        <p:nvSpPr>
          <p:cNvPr id="12"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3</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11920141" cy="4708981"/>
          </a:xfrm>
          <a:prstGeom prst="rect">
            <a:avLst/>
          </a:prstGeom>
          <a:noFill/>
        </p:spPr>
        <p:txBody>
          <a:bodyPr wrap="square" rtlCol="0">
            <a:spAutoFit/>
          </a:bodyPr>
          <a:lstStyle/>
          <a:p>
            <a:r>
              <a:rPr lang="en-IN" sz="2000" b="1" dirty="0">
                <a:solidFill>
                  <a:srgbClr val="FF0000"/>
                </a:solidFill>
                <a:latin typeface="Times New Roman" panose="02020603050405020304" pitchFamily="18" charset="0"/>
                <a:cs typeface="Times New Roman" panose="02020603050405020304" pitchFamily="18" charset="0"/>
              </a:rPr>
              <a:t>Problem statement:</a:t>
            </a:r>
          </a:p>
          <a:p>
            <a:endParaRPr lang="en-US" b="1"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Most of the tasks performed within an organization involve collaboration across multiple departments within an organization. But current automation and AI solutions fail to solve this problem since traditional automation solutions are inflexible, single AI assistants are not aware of the business context, and multi-agent AI solutions do not offer the necessary security and compliance capabilities for enterprises. Thus, most organizations still use manual coordination, which results in low efficiency and waste of resources.</a:t>
            </a:r>
          </a:p>
          <a:p>
            <a:endParaRPr lang="en-US" dirty="0">
              <a:latin typeface="Times New Roman" panose="02020603050405020304" pitchFamily="18" charset="0"/>
              <a:cs typeface="Times New Roman" panose="02020603050405020304" pitchFamily="18" charset="0"/>
            </a:endParaRPr>
          </a:p>
          <a:p>
            <a:r>
              <a:rPr lang="en-US" b="1" dirty="0">
                <a:solidFill>
                  <a:srgbClr val="FF0000"/>
                </a:solidFill>
                <a:latin typeface="Times New Roman" panose="02020603050405020304" pitchFamily="18" charset="0"/>
                <a:cs typeface="Times New Roman" panose="02020603050405020304" pitchFamily="18" charset="0"/>
              </a:rPr>
              <a:t>Example: Employee Onboarding</a:t>
            </a:r>
          </a:p>
          <a:p>
            <a:endParaRPr lang="en-US"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In case of onboarding a new employee, there are several teams that should cooperate:</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The HR department prepares contracts and manages the employee records.</a:t>
            </a:r>
          </a:p>
          <a:p>
            <a:r>
              <a:rPr lang="en-US" sz="1600" dirty="0">
                <a:latin typeface="Times New Roman" panose="02020603050405020304" pitchFamily="18" charset="0"/>
                <a:cs typeface="Times New Roman" panose="02020603050405020304" pitchFamily="18" charset="0"/>
              </a:rPr>
              <a:t>The IT department creates an email account and configures the device and access to software.</a:t>
            </a:r>
          </a:p>
          <a:p>
            <a:r>
              <a:rPr lang="en-US" sz="1600" dirty="0">
                <a:latin typeface="Times New Roman" panose="02020603050405020304" pitchFamily="18" charset="0"/>
                <a:cs typeface="Times New Roman" panose="02020603050405020304" pitchFamily="18" charset="0"/>
              </a:rPr>
              <a:t>The finance department deals with payroll and banking information.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Nowadays, such operations require managers to coordinate them manually via emails and follow-ups, since the existing automation solutions cannot handle this operation securely and efficiently enough. Our architecture provides a solution to this problem through collaboration across departments.</a:t>
            </a:r>
            <a:endParaRPr lang="en-IN" sz="16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50EC79EE-C1C4-E275-0987-67B7B3A60CCB}"/>
              </a:ext>
            </a:extLst>
          </p:cNvPr>
          <p:cNvSpPr txBox="1"/>
          <p:nvPr/>
        </p:nvSpPr>
        <p:spPr>
          <a:xfrm>
            <a:off x="8831180" y="31393"/>
            <a:ext cx="3272330"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a:t>
            </a:r>
            <a:r>
              <a:rPr lang="en-IN" sz="1200" dirty="0" err="1">
                <a:latin typeface="Times New Roman" panose="02020603050405020304" pitchFamily="18" charset="0"/>
                <a:cs typeface="Times New Roman" panose="02020603050405020304" pitchFamily="18" charset="0"/>
              </a:rPr>
              <a:t>Nuthi</a:t>
            </a:r>
            <a:r>
              <a:rPr lang="en-IN" sz="1200" dirty="0">
                <a:latin typeface="Times New Roman" panose="02020603050405020304" pitchFamily="18" charset="0"/>
                <a:cs typeface="Times New Roman" panose="02020603050405020304" pitchFamily="18" charset="0"/>
              </a:rPr>
              <a:t> Raju</a:t>
            </a:r>
          </a:p>
          <a:p>
            <a:r>
              <a:rPr lang="en-IN" sz="1200" dirty="0">
                <a:latin typeface="Times New Roman" panose="02020603050405020304" pitchFamily="18" charset="0"/>
                <a:cs typeface="Times New Roman" panose="02020603050405020304" pitchFamily="18" charset="0"/>
              </a:rPr>
              <a:t>Batch ID: C05</a:t>
            </a: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No:23BQ1A61D8,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No:23BQ1A61B8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No:23BQ1A61D3,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No:23BQ1A61E7</a:t>
            </a:r>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Multi-Agent AI Business Assistant for Intelligent Enterprise Workflow Automation </a:t>
            </a:r>
          </a:p>
        </p:txBody>
      </p:sp>
    </p:spTree>
    <p:extLst>
      <p:ext uri="{BB962C8B-B14F-4D97-AF65-F5344CB8AC3E}">
        <p14:creationId xmlns:p14="http://schemas.microsoft.com/office/powerpoint/2010/main" val="1266449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18-09-2026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4</a:t>
            </a:fld>
            <a:endParaRPr lang="en-IN" sz="1800" dirty="0">
              <a:solidFill>
                <a:schemeClr val="tx1"/>
              </a:solidFill>
            </a:endParaRPr>
          </a:p>
        </p:txBody>
      </p:sp>
      <p:sp>
        <p:nvSpPr>
          <p:cNvPr id="2" name="TextBox 1">
            <a:extLst>
              <a:ext uri="{FF2B5EF4-FFF2-40B4-BE49-F238E27FC236}">
                <a16:creationId xmlns:a16="http://schemas.microsoft.com/office/drawing/2014/main" id="{50EC79EE-C1C4-E275-0987-67B7B3A60CCB}"/>
              </a:ext>
            </a:extLst>
          </p:cNvPr>
          <p:cNvSpPr txBox="1"/>
          <p:nvPr/>
        </p:nvSpPr>
        <p:spPr>
          <a:xfrm>
            <a:off x="8855242" y="31393"/>
            <a:ext cx="3248267"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a:t>
            </a:r>
            <a:r>
              <a:rPr lang="en-IN" sz="1200" dirty="0" err="1">
                <a:latin typeface="Times New Roman" panose="02020603050405020304" pitchFamily="18" charset="0"/>
                <a:cs typeface="Times New Roman" panose="02020603050405020304" pitchFamily="18" charset="0"/>
              </a:rPr>
              <a:t>Nuthi</a:t>
            </a:r>
            <a:r>
              <a:rPr lang="en-IN" sz="1200" dirty="0">
                <a:latin typeface="Times New Roman" panose="02020603050405020304" pitchFamily="18" charset="0"/>
                <a:cs typeface="Times New Roman" panose="02020603050405020304" pitchFamily="18" charset="0"/>
              </a:rPr>
              <a:t> Raju</a:t>
            </a:r>
          </a:p>
          <a:p>
            <a:r>
              <a:rPr lang="en-IN" sz="1200" dirty="0">
                <a:latin typeface="Times New Roman" panose="02020603050405020304" pitchFamily="18" charset="0"/>
                <a:cs typeface="Times New Roman" panose="02020603050405020304" pitchFamily="18" charset="0"/>
              </a:rPr>
              <a:t>Batch ID: C05</a:t>
            </a: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No:23BQ1A61D8,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No:23BQ1A61B8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No:23BQ1A61D3,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No:23BQ1A61E7</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Multi-Agent AI Business Assistant for Intelligent Enterprise Workflow Automation </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8" name="TextBox 7">
            <a:extLst>
              <a:ext uri="{FF2B5EF4-FFF2-40B4-BE49-F238E27FC236}">
                <a16:creationId xmlns:a16="http://schemas.microsoft.com/office/drawing/2014/main" id="{8CA0EA68-0F74-F4C5-2F98-2968ACE6B68D}"/>
              </a:ext>
            </a:extLst>
          </p:cNvPr>
          <p:cNvSpPr txBox="1"/>
          <p:nvPr/>
        </p:nvSpPr>
        <p:spPr>
          <a:xfrm>
            <a:off x="135928" y="1752600"/>
            <a:ext cx="11758892" cy="3077766"/>
          </a:xfrm>
          <a:prstGeom prst="rect">
            <a:avLst/>
          </a:prstGeom>
          <a:noFill/>
        </p:spPr>
        <p:txBody>
          <a:bodyPr wrap="square" rtlCol="0">
            <a:spAutoFit/>
          </a:bodyPr>
          <a:lstStyle/>
          <a:p>
            <a:r>
              <a:rPr lang="en-IN" b="1" dirty="0">
                <a:solidFill>
                  <a:srgbClr val="FF0000"/>
                </a:solidFill>
                <a:latin typeface="Times New Roman" panose="02020603050405020304" pitchFamily="18" charset="0"/>
                <a:cs typeface="Times New Roman" panose="02020603050405020304" pitchFamily="18" charset="0"/>
              </a:rPr>
              <a:t>Proposed Method</a:t>
            </a:r>
          </a:p>
          <a:p>
            <a:endParaRPr lang="en-IN" sz="1600" b="1"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Rather than attempting to create one generalized AI chatbot that is prone to becoming confused and overwhelmed by a complex request, our proposed solution operates precisely in the same way as a typical corporate workforce.</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We are developing a network of collaborative AI systems. Once the user posts his or her complex task, the Intent Routing Engine, which plays the role of a dispatcher, will break the complex task into simple subtasks. There is the Coordinator Agent, which will play the role of a project manager and assign the subtasks to Six Specialized AI Agents (HR Agent, Finance Agent, Coding Agent).</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All the agents will perform their tasks in parallel and communicate via a secure "message bus." Since this solution is intended to be used by enterprises, the agents will not have unlimited access to all the information but only to their specialized tools. Finally, the Execution Logger will record every action of the agents.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6065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4181F-119F-280F-7707-E78969BD7B7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F5ADEDC-6DEB-A082-0F96-CC83E726E15D}"/>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0169DCA6-67F7-7947-D704-6886617B91C9}"/>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0BB63C48-8C25-D9B9-2D8A-3C0E37729264}"/>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18-09-2026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41CF971-F5C3-4930-4C11-8C872267B4B2}"/>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5</a:t>
            </a:fld>
            <a:endParaRPr lang="en-IN" sz="1800" dirty="0">
              <a:solidFill>
                <a:schemeClr val="tx1"/>
              </a:solidFill>
            </a:endParaRPr>
          </a:p>
        </p:txBody>
      </p:sp>
      <p:sp>
        <p:nvSpPr>
          <p:cNvPr id="2" name="TextBox 1">
            <a:extLst>
              <a:ext uri="{FF2B5EF4-FFF2-40B4-BE49-F238E27FC236}">
                <a16:creationId xmlns:a16="http://schemas.microsoft.com/office/drawing/2014/main" id="{D299D458-03B2-15B3-55BD-9CCD9B63A783}"/>
              </a:ext>
            </a:extLst>
          </p:cNvPr>
          <p:cNvSpPr txBox="1"/>
          <p:nvPr/>
        </p:nvSpPr>
        <p:spPr>
          <a:xfrm>
            <a:off x="8847221" y="31393"/>
            <a:ext cx="3256289"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a:t>
            </a:r>
            <a:r>
              <a:rPr lang="en-IN" sz="1200" dirty="0" err="1">
                <a:latin typeface="Times New Roman" panose="02020603050405020304" pitchFamily="18" charset="0"/>
                <a:cs typeface="Times New Roman" panose="02020603050405020304" pitchFamily="18" charset="0"/>
              </a:rPr>
              <a:t>Nuthi</a:t>
            </a:r>
            <a:r>
              <a:rPr lang="en-IN" sz="1200" dirty="0">
                <a:latin typeface="Times New Roman" panose="02020603050405020304" pitchFamily="18" charset="0"/>
                <a:cs typeface="Times New Roman" panose="02020603050405020304" pitchFamily="18" charset="0"/>
              </a:rPr>
              <a:t> Raju</a:t>
            </a:r>
          </a:p>
          <a:p>
            <a:r>
              <a:rPr lang="en-IN" sz="1200" dirty="0">
                <a:latin typeface="Times New Roman" panose="02020603050405020304" pitchFamily="18" charset="0"/>
                <a:cs typeface="Times New Roman" panose="02020603050405020304" pitchFamily="18" charset="0"/>
              </a:rPr>
              <a:t>Batch ID: C05</a:t>
            </a: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No:23BQ1A61D8,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No:23BQ1A61B8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No:23BQ1A61D3,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No:23BQ1A61E7</a:t>
            </a:r>
            <a:endParaRPr lang="en-IN" sz="1200" dirty="0"/>
          </a:p>
        </p:txBody>
      </p:sp>
      <p:pic>
        <p:nvPicPr>
          <p:cNvPr id="3" name="Picture 2">
            <a:extLst>
              <a:ext uri="{FF2B5EF4-FFF2-40B4-BE49-F238E27FC236}">
                <a16:creationId xmlns:a16="http://schemas.microsoft.com/office/drawing/2014/main" id="{92C60043-5CE2-B3E6-673D-D659184946B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16065617-F475-D155-F631-94375FC36A91}"/>
              </a:ext>
            </a:extLst>
          </p:cNvPr>
          <p:cNvSpPr txBox="1"/>
          <p:nvPr/>
        </p:nvSpPr>
        <p:spPr>
          <a:xfrm>
            <a:off x="1531467" y="74997"/>
            <a:ext cx="7424010"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Multi-Agent AI Business Assistant for Intelligent Enterprise Workflow Automation </a:t>
            </a:r>
          </a:p>
        </p:txBody>
      </p:sp>
      <p:sp>
        <p:nvSpPr>
          <p:cNvPr id="16" name="Footer Placeholder 11">
            <a:extLst>
              <a:ext uri="{FF2B5EF4-FFF2-40B4-BE49-F238E27FC236}">
                <a16:creationId xmlns:a16="http://schemas.microsoft.com/office/drawing/2014/main" id="{2C1707B3-C242-F9FF-F2F0-E31C21C0CCEA}"/>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8" name="TextBox 7">
            <a:extLst>
              <a:ext uri="{FF2B5EF4-FFF2-40B4-BE49-F238E27FC236}">
                <a16:creationId xmlns:a16="http://schemas.microsoft.com/office/drawing/2014/main" id="{1CFE3CF3-3DB8-1626-E7D0-49A72D95DAD2}"/>
              </a:ext>
            </a:extLst>
          </p:cNvPr>
          <p:cNvSpPr txBox="1"/>
          <p:nvPr/>
        </p:nvSpPr>
        <p:spPr>
          <a:xfrm>
            <a:off x="1874520" y="3154680"/>
            <a:ext cx="184731" cy="369332"/>
          </a:xfrm>
          <a:prstGeom prst="rect">
            <a:avLst/>
          </a:prstGeom>
          <a:noFill/>
        </p:spPr>
        <p:txBody>
          <a:bodyPr wrap="none" rtlCol="0">
            <a:spAutoFit/>
          </a:bodyPr>
          <a:lstStyle/>
          <a:p>
            <a:endParaRPr lang="en-IN" dirty="0"/>
          </a:p>
        </p:txBody>
      </p:sp>
      <p:sp>
        <p:nvSpPr>
          <p:cNvPr id="9" name="TextBox 8">
            <a:extLst>
              <a:ext uri="{FF2B5EF4-FFF2-40B4-BE49-F238E27FC236}">
                <a16:creationId xmlns:a16="http://schemas.microsoft.com/office/drawing/2014/main" id="{DCCC2636-5B73-B486-6664-955914EB921A}"/>
              </a:ext>
            </a:extLst>
          </p:cNvPr>
          <p:cNvSpPr txBox="1"/>
          <p:nvPr/>
        </p:nvSpPr>
        <p:spPr>
          <a:xfrm>
            <a:off x="304800" y="1783080"/>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AA70B780-74A8-C484-5168-9547E1341A0D}"/>
              </a:ext>
            </a:extLst>
          </p:cNvPr>
          <p:cNvSpPr txBox="1"/>
          <p:nvPr/>
        </p:nvSpPr>
        <p:spPr>
          <a:xfrm>
            <a:off x="1158536" y="1376784"/>
            <a:ext cx="8169872" cy="4524315"/>
          </a:xfrm>
          <a:prstGeom prst="rect">
            <a:avLst/>
          </a:prstGeom>
          <a:noFill/>
        </p:spPr>
        <p:txBody>
          <a:bodyPr wrap="square" rtlCol="0">
            <a:spAutoFit/>
          </a:bodyPr>
          <a:lstStyle/>
          <a:p>
            <a:pPr algn="just"/>
            <a:r>
              <a:rPr lang="en-US" b="1" dirty="0">
                <a:solidFill>
                  <a:srgbClr val="FF0000"/>
                </a:solidFill>
                <a:latin typeface="Times New Roman" panose="02020603050405020304" pitchFamily="18" charset="0"/>
                <a:cs typeface="Times New Roman" panose="02020603050405020304" pitchFamily="18" charset="0"/>
              </a:rPr>
              <a:t>The Real-World Example</a:t>
            </a:r>
          </a:p>
          <a:p>
            <a:pPr algn="just"/>
            <a:r>
              <a:rPr lang="en-US" sz="1600" dirty="0">
                <a:latin typeface="Times New Roman" panose="02020603050405020304" pitchFamily="18" charset="0"/>
                <a:cs typeface="Times New Roman" panose="02020603050405020304" pitchFamily="18" charset="0"/>
              </a:rPr>
              <a:t>Consider how the architecture works when applied to a real enterprise task, which is Employee Onboarding.</a:t>
            </a:r>
          </a:p>
          <a:p>
            <a:pPr algn="just"/>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For example, consider the prompt from the manager that sounds like "Initiate the process of onboarding of our new developer Alice."</a:t>
            </a: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Decomposition: The Intent Routing Engine gets the prompt and understands that the process involves multiple departments.</a:t>
            </a: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Parallel Execution: The Coordinator assigns the tasks to the specific agents simultaneously.</a:t>
            </a: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HR Agent checks the employment information of Alice in the HR database.</a:t>
            </a: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Finance Agent uses a special payroll application to create the salary profile of the employee.</a:t>
            </a: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Coding Agent signs into the IT system to establish Alice's AWS and GitHub accounts.</a:t>
            </a: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Synchronization: The Coordinator gets reports from the agents as soon as they finish their jobs.</a:t>
            </a: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Final Action: Once HR, Finance, and IT processes are done, the Coordinator triggers the Email Agent to compose and send an email with the credentials of Alice and a welcome note.</a:t>
            </a:r>
          </a:p>
          <a:p>
            <a:pPr marL="342900" indent="-342900" algn="just">
              <a:buFont typeface="+mj-lt"/>
              <a:buAutoNum type="arabicPeriod"/>
            </a:pPr>
            <a:r>
              <a:rPr lang="en-US" sz="1600" dirty="0">
                <a:latin typeface="Times New Roman" panose="02020603050405020304" pitchFamily="18" charset="0"/>
                <a:cs typeface="Times New Roman" panose="02020603050405020304" pitchFamily="18" charset="0"/>
              </a:rPr>
              <a:t>The Outcome: The human manager receives one simple prompt saying "Alice is onboarded" with a log of all actions that the AI completed.</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0689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18-09-2026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6</a:t>
            </a:fld>
            <a:endParaRPr lang="en-IN" sz="1800" dirty="0">
              <a:solidFill>
                <a:schemeClr val="tx1"/>
              </a:solidFill>
            </a:endParaRPr>
          </a:p>
        </p:txBody>
      </p:sp>
      <p:sp>
        <p:nvSpPr>
          <p:cNvPr id="2" name="TextBox 1">
            <a:extLst>
              <a:ext uri="{FF2B5EF4-FFF2-40B4-BE49-F238E27FC236}">
                <a16:creationId xmlns:a16="http://schemas.microsoft.com/office/drawing/2014/main" id="{50EC79EE-C1C4-E275-0987-67B7B3A60CCB}"/>
              </a:ext>
            </a:extLst>
          </p:cNvPr>
          <p:cNvSpPr txBox="1"/>
          <p:nvPr/>
        </p:nvSpPr>
        <p:spPr>
          <a:xfrm>
            <a:off x="8847221" y="31393"/>
            <a:ext cx="3256289"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a:t>
            </a:r>
            <a:r>
              <a:rPr lang="en-IN" sz="1200" dirty="0" err="1">
                <a:latin typeface="Times New Roman" panose="02020603050405020304" pitchFamily="18" charset="0"/>
                <a:cs typeface="Times New Roman" panose="02020603050405020304" pitchFamily="18" charset="0"/>
              </a:rPr>
              <a:t>Nuthi</a:t>
            </a:r>
            <a:r>
              <a:rPr lang="en-IN" sz="1200" dirty="0">
                <a:latin typeface="Times New Roman" panose="02020603050405020304" pitchFamily="18" charset="0"/>
                <a:cs typeface="Times New Roman" panose="02020603050405020304" pitchFamily="18" charset="0"/>
              </a:rPr>
              <a:t> Raju</a:t>
            </a:r>
          </a:p>
          <a:p>
            <a:r>
              <a:rPr lang="en-IN" sz="1200" dirty="0">
                <a:latin typeface="Times New Roman" panose="02020603050405020304" pitchFamily="18" charset="0"/>
                <a:cs typeface="Times New Roman" panose="02020603050405020304" pitchFamily="18" charset="0"/>
              </a:rPr>
              <a:t>Batch ID: C05</a:t>
            </a: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No:23BQ1A61D8,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No:23BQ1A61B8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No:23BQ1A61D3,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No:23BQ1A61E7</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74997"/>
            <a:ext cx="7424010"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Multi-Agent AI Business Assistant for Intelligent Enterprise Workflow Automation </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8" name="TextBox 7">
            <a:extLst>
              <a:ext uri="{FF2B5EF4-FFF2-40B4-BE49-F238E27FC236}">
                <a16:creationId xmlns:a16="http://schemas.microsoft.com/office/drawing/2014/main" id="{A659BC35-50D8-5C4B-D1D4-52AEABB18614}"/>
              </a:ext>
            </a:extLst>
          </p:cNvPr>
          <p:cNvSpPr txBox="1"/>
          <p:nvPr/>
        </p:nvSpPr>
        <p:spPr>
          <a:xfrm>
            <a:off x="1874520" y="3154680"/>
            <a:ext cx="184731" cy="369332"/>
          </a:xfrm>
          <a:prstGeom prst="rect">
            <a:avLst/>
          </a:prstGeom>
          <a:noFill/>
        </p:spPr>
        <p:txBody>
          <a:bodyPr wrap="none" rtlCol="0">
            <a:spAutoFit/>
          </a:bodyPr>
          <a:lstStyle/>
          <a:p>
            <a:endParaRPr lang="en-IN" dirty="0"/>
          </a:p>
        </p:txBody>
      </p:sp>
      <p:sp>
        <p:nvSpPr>
          <p:cNvPr id="9" name="TextBox 8">
            <a:extLst>
              <a:ext uri="{FF2B5EF4-FFF2-40B4-BE49-F238E27FC236}">
                <a16:creationId xmlns:a16="http://schemas.microsoft.com/office/drawing/2014/main" id="{46C3A7FC-0040-0C3E-A6B5-256D1161437B}"/>
              </a:ext>
            </a:extLst>
          </p:cNvPr>
          <p:cNvSpPr txBox="1"/>
          <p:nvPr/>
        </p:nvSpPr>
        <p:spPr>
          <a:xfrm>
            <a:off x="304800" y="1783080"/>
            <a:ext cx="184731" cy="369332"/>
          </a:xfrm>
          <a:prstGeom prst="rect">
            <a:avLst/>
          </a:prstGeom>
          <a:noFill/>
        </p:spPr>
        <p:txBody>
          <a:bodyPr wrap="none" rtlCol="0">
            <a:spAutoFit/>
          </a:bodyPr>
          <a:lstStyle/>
          <a:p>
            <a:endParaRPr lang="en-IN" dirty="0">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3517232E-868F-0192-7332-D2D22A31F4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51280" y="887982"/>
            <a:ext cx="3584383" cy="5021580"/>
          </a:xfrm>
          <a:prstGeom prst="rect">
            <a:avLst/>
          </a:prstGeom>
        </p:spPr>
      </p:pic>
      <p:sp>
        <p:nvSpPr>
          <p:cNvPr id="6" name="TextBox 5">
            <a:extLst>
              <a:ext uri="{FF2B5EF4-FFF2-40B4-BE49-F238E27FC236}">
                <a16:creationId xmlns:a16="http://schemas.microsoft.com/office/drawing/2014/main" id="{1F116705-F5E6-78F0-79F4-57D81845F943}"/>
              </a:ext>
            </a:extLst>
          </p:cNvPr>
          <p:cNvSpPr txBox="1"/>
          <p:nvPr/>
        </p:nvSpPr>
        <p:spPr>
          <a:xfrm>
            <a:off x="3200399" y="5970018"/>
            <a:ext cx="5187991" cy="646331"/>
          </a:xfrm>
          <a:prstGeom prst="rect">
            <a:avLst/>
          </a:prstGeom>
          <a:noFill/>
        </p:spPr>
        <p:txBody>
          <a:bodyPr wrap="square" rtlCol="0">
            <a:spAutoFit/>
          </a:bodyPr>
          <a:lstStyle/>
          <a:p>
            <a:r>
              <a:rPr lang="en-IN" b="1" dirty="0">
                <a:solidFill>
                  <a:srgbClr val="FF0000"/>
                </a:solidFill>
              </a:rPr>
              <a:t>Fig : Workflow for </a:t>
            </a:r>
            <a:r>
              <a:rPr lang="en-US" b="1" dirty="0">
                <a:solidFill>
                  <a:srgbClr val="FF0000"/>
                </a:solidFill>
                <a:latin typeface="Times New Roman" panose="02020603050405020304" pitchFamily="18" charset="0"/>
                <a:cs typeface="Times New Roman" panose="02020603050405020304" pitchFamily="18" charset="0"/>
              </a:rPr>
              <a:t>The Real-World Example</a:t>
            </a:r>
          </a:p>
          <a:p>
            <a:endParaRPr lang="en-IN" b="1" dirty="0">
              <a:solidFill>
                <a:srgbClr val="FF0000"/>
              </a:solidFill>
            </a:endParaRPr>
          </a:p>
        </p:txBody>
      </p:sp>
    </p:spTree>
    <p:extLst>
      <p:ext uri="{BB962C8B-B14F-4D97-AF65-F5344CB8AC3E}">
        <p14:creationId xmlns:p14="http://schemas.microsoft.com/office/powerpoint/2010/main" val="3876127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18-09-2026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7</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solidFill>
                  <a:srgbClr val="FF0000"/>
                </a:solidFill>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855242" y="31393"/>
            <a:ext cx="3248267"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a:t>
            </a:r>
            <a:r>
              <a:rPr lang="en-IN" sz="1200" dirty="0" err="1">
                <a:latin typeface="Times New Roman" panose="02020603050405020304" pitchFamily="18" charset="0"/>
                <a:cs typeface="Times New Roman" panose="02020603050405020304" pitchFamily="18" charset="0"/>
              </a:rPr>
              <a:t>Nuthi</a:t>
            </a:r>
            <a:r>
              <a:rPr lang="en-IN" sz="1200" dirty="0">
                <a:latin typeface="Times New Roman" panose="02020603050405020304" pitchFamily="18" charset="0"/>
                <a:cs typeface="Times New Roman" panose="02020603050405020304" pitchFamily="18" charset="0"/>
              </a:rPr>
              <a:t> Raju</a:t>
            </a:r>
          </a:p>
          <a:p>
            <a:r>
              <a:rPr lang="en-IN" sz="1200" dirty="0">
                <a:latin typeface="Times New Roman" panose="02020603050405020304" pitchFamily="18" charset="0"/>
                <a:cs typeface="Times New Roman" panose="02020603050405020304" pitchFamily="18" charset="0"/>
              </a:rPr>
              <a:t>Batch ID: C05</a:t>
            </a: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No:23BQ1A61D8,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No:23BQ1A61B8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No:23BQ1A61D3,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No:23BQ1A61E7</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Multi-Agent AI Business Assistant for Intelligent Enterprise Workflow Automation </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65000"/>
                  </a:schemeClr>
                </a:solidFill>
                <a:latin typeface="Times New Roman" panose="02020603050405020304" pitchFamily="18" charset="0"/>
                <a:cs typeface="Times New Roman" panose="02020603050405020304" pitchFamily="18" charset="0"/>
              </a:rPr>
              <a:t>| Proposed Method | Data &amp; Setup | key Results | Strengths &amp; Limitations </a:t>
            </a:r>
            <a:r>
              <a:rPr lang="en-IN" sz="1400" dirty="0">
                <a:solidFill>
                  <a:schemeClr val="tx1">
                    <a:lumMod val="95000"/>
                    <a:lumOff val="5000"/>
                  </a:schemeClr>
                </a:solidFill>
                <a:latin typeface="Times New Roman" panose="02020603050405020304" pitchFamily="18" charset="0"/>
                <a:cs typeface="Times New Roman" panose="02020603050405020304" pitchFamily="18" charset="0"/>
              </a:rPr>
              <a:t>|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IN" sz="1400" b="1" dirty="0">
                <a:latin typeface="Times New Roman" panose="02020603050405020304" pitchFamily="18" charset="0"/>
                <a:cs typeface="Times New Roman" panose="02020603050405020304" pitchFamily="18" charset="0"/>
              </a:rPr>
              <a:t>Ref 01 – </a:t>
            </a:r>
            <a:r>
              <a:rPr lang="en-IN" sz="1400" b="1" dirty="0" err="1">
                <a:latin typeface="Times New Roman" panose="02020603050405020304" pitchFamily="18" charset="0"/>
                <a:cs typeface="Times New Roman" panose="02020603050405020304" pitchFamily="18" charset="0"/>
              </a:rPr>
              <a:t>DeCoAgent</a:t>
            </a:r>
            <a:r>
              <a:rPr lang="en-IN" sz="1400" b="1" dirty="0">
                <a:latin typeface="Times New Roman" panose="02020603050405020304" pitchFamily="18" charset="0"/>
                <a:cs typeface="Times New Roman" panose="02020603050405020304" pitchFamily="18" charset="0"/>
              </a:rPr>
              <a:t>: LLM Empowered Decentralized Collaboration Agents </a:t>
            </a:r>
            <a:r>
              <a:rPr lang="en-IN" sz="1400" dirty="0">
                <a:latin typeface="Times New Roman" panose="02020603050405020304" pitchFamily="18" charset="0"/>
                <a:cs typeface="Times New Roman" panose="02020603050405020304" pitchFamily="18" charset="0"/>
              </a:rPr>
              <a:t> </a:t>
            </a:r>
          </a:p>
          <a:p>
            <a:r>
              <a:rPr lang="en-IN" sz="1400" i="1" dirty="0">
                <a:latin typeface="Times New Roman" panose="02020603050405020304" pitchFamily="18" charset="0"/>
                <a:cs typeface="Times New Roman" panose="02020603050405020304" pitchFamily="18" charset="0"/>
              </a:rPr>
              <a:t>Jin et al., 2024 | IEEE Access</a:t>
            </a:r>
            <a:endParaRPr lang="en-IN" sz="1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C323267-5687-A49B-9B61-D8A4DDAEB92E}"/>
              </a:ext>
            </a:extLst>
          </p:cNvPr>
          <p:cNvSpPr txBox="1"/>
          <p:nvPr/>
        </p:nvSpPr>
        <p:spPr>
          <a:xfrm>
            <a:off x="135928" y="1737360"/>
            <a:ext cx="11758892" cy="3570208"/>
          </a:xfrm>
          <a:prstGeom prst="rect">
            <a:avLst/>
          </a:prstGeom>
          <a:noFill/>
        </p:spPr>
        <p:txBody>
          <a:bodyPr wrap="square" rtlCol="0">
            <a:spAutoFit/>
          </a:bodyPr>
          <a:lstStyle/>
          <a:p>
            <a:pPr algn="just"/>
            <a:r>
              <a:rPr lang="en-IN" b="1" dirty="0">
                <a:latin typeface="Times New Roman" panose="02020603050405020304" pitchFamily="18" charset="0"/>
                <a:cs typeface="Times New Roman" panose="02020603050405020304" pitchFamily="18" charset="0"/>
              </a:rPr>
              <a:t>The Core Concept</a:t>
            </a:r>
          </a:p>
          <a:p>
            <a:pPr algn="just"/>
            <a:endParaRPr lang="en-IN" sz="1600" b="1"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In </a:t>
            </a:r>
            <a:r>
              <a:rPr lang="en-US" sz="1600" dirty="0" err="1">
                <a:latin typeface="Times New Roman" panose="02020603050405020304" pitchFamily="18" charset="0"/>
                <a:cs typeface="Times New Roman" panose="02020603050405020304" pitchFamily="18" charset="0"/>
              </a:rPr>
              <a:t>DeCoAgent</a:t>
            </a:r>
            <a:r>
              <a:rPr lang="en-US" sz="1600" dirty="0">
                <a:latin typeface="Times New Roman" panose="02020603050405020304" pitchFamily="18" charset="0"/>
                <a:cs typeface="Times New Roman" panose="02020603050405020304" pitchFamily="18" charset="0"/>
              </a:rPr>
              <a:t>, the process of interaction is decentralized multi-agent and involves cooperation of AI agents via blockchain and smart contracts rather than centralized controller. It aims at achieving secure and autonomous cooperation of AI agents under conditions of low trust between participants.</a:t>
            </a:r>
          </a:p>
          <a:p>
            <a:pPr algn="just"/>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Process of Work:</a:t>
            </a:r>
          </a:p>
          <a:p>
            <a:pPr algn="just"/>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User provides a task to the system.</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Task is announced using blockchain via smart contract.</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AI agents find out about the task and choose tasks to perform based on their competencies.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Agents perform their tasks and return results.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Results are verified by other agents, and all actions are written to the blockchain.</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Result is permanently saved.</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6479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18-09-2026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8</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solidFill>
                  <a:srgbClr val="FF0000"/>
                </a:solidFill>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855242" y="31393"/>
            <a:ext cx="3248267"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a:t>
            </a:r>
            <a:r>
              <a:rPr lang="en-IN" sz="1200" dirty="0" err="1">
                <a:latin typeface="Times New Roman" panose="02020603050405020304" pitchFamily="18" charset="0"/>
                <a:cs typeface="Times New Roman" panose="02020603050405020304" pitchFamily="18" charset="0"/>
              </a:rPr>
              <a:t>Nuthi</a:t>
            </a:r>
            <a:r>
              <a:rPr lang="en-IN" sz="1200" dirty="0">
                <a:latin typeface="Times New Roman" panose="02020603050405020304" pitchFamily="18" charset="0"/>
                <a:cs typeface="Times New Roman" panose="02020603050405020304" pitchFamily="18" charset="0"/>
              </a:rPr>
              <a:t> Raju</a:t>
            </a:r>
          </a:p>
          <a:p>
            <a:r>
              <a:rPr lang="en-IN" sz="1200" dirty="0">
                <a:latin typeface="Times New Roman" panose="02020603050405020304" pitchFamily="18" charset="0"/>
                <a:cs typeface="Times New Roman" panose="02020603050405020304" pitchFamily="18" charset="0"/>
              </a:rPr>
              <a:t>Batch ID: C05</a:t>
            </a: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No:23BQ1A61D8,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No:23BQ1A61B8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No:23BQ1A61D3,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No:23BQ1A61E7</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Multi-Agent AI Business Assistant for Intelligent Enterprise Workflow Automation </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a:t>
            </a:r>
            <a:r>
              <a:rPr lang="en-IN" sz="1400" dirty="0">
                <a:latin typeface="Times New Roman" panose="02020603050405020304" pitchFamily="18" charset="0"/>
                <a:cs typeface="Times New Roman" panose="02020603050405020304" pitchFamily="18" charset="0"/>
              </a:rPr>
              <a:t>| 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IN" sz="1400" b="1" dirty="0">
                <a:latin typeface="Times New Roman" panose="02020603050405020304" pitchFamily="18" charset="0"/>
                <a:cs typeface="Times New Roman" panose="02020603050405020304" pitchFamily="18" charset="0"/>
              </a:rPr>
              <a:t>Ref 01 – </a:t>
            </a:r>
            <a:r>
              <a:rPr lang="en-IN" sz="1400" b="1" dirty="0" err="1">
                <a:latin typeface="Times New Roman" panose="02020603050405020304" pitchFamily="18" charset="0"/>
                <a:cs typeface="Times New Roman" panose="02020603050405020304" pitchFamily="18" charset="0"/>
              </a:rPr>
              <a:t>DeCoAgent</a:t>
            </a:r>
            <a:r>
              <a:rPr lang="en-IN" sz="1400" b="1" dirty="0">
                <a:latin typeface="Times New Roman" panose="02020603050405020304" pitchFamily="18" charset="0"/>
                <a:cs typeface="Times New Roman" panose="02020603050405020304" pitchFamily="18" charset="0"/>
              </a:rPr>
              <a:t>: LLM Empowered Decentralized Collaboration Agents </a:t>
            </a:r>
          </a:p>
          <a:p>
            <a:r>
              <a:rPr lang="en-IN" sz="1400" i="1" dirty="0">
                <a:latin typeface="Times New Roman" panose="02020603050405020304" pitchFamily="18" charset="0"/>
                <a:cs typeface="Times New Roman" panose="02020603050405020304" pitchFamily="18" charset="0"/>
              </a:rPr>
              <a:t>Jin et al., 2024 | IEEE Access</a:t>
            </a:r>
            <a:endParaRPr lang="en-IN" sz="1400" dirty="0">
              <a:latin typeface="Times New Roman" panose="02020603050405020304" pitchFamily="18" charset="0"/>
              <a:cs typeface="Times New Roman" panose="02020603050405020304" pitchFamily="18" charset="0"/>
            </a:endParaRPr>
          </a:p>
        </p:txBody>
      </p:sp>
      <p:sp>
        <p:nvSpPr>
          <p:cNvPr id="7" name="Rounded Rectangle 6"/>
          <p:cNvSpPr/>
          <p:nvPr/>
        </p:nvSpPr>
        <p:spPr>
          <a:xfrm>
            <a:off x="26416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n-US" b="1" dirty="0">
                <a:solidFill>
                  <a:schemeClr val="tx1">
                    <a:lumMod val="95000"/>
                    <a:lumOff val="5000"/>
                  </a:schemeClr>
                </a:solidFill>
              </a:rPr>
              <a:t>No Single Point of Failure: </a:t>
            </a:r>
            <a:r>
              <a:rPr lang="en-US" dirty="0">
                <a:solidFill>
                  <a:schemeClr val="tx1">
                    <a:lumMod val="95000"/>
                    <a:lumOff val="5000"/>
                  </a:schemeClr>
                </a:solidFill>
              </a:rPr>
              <a:t>Since the system is fully decentralized through the blockchain, even if one node fails, the system continues to work.</a:t>
            </a:r>
          </a:p>
          <a:p>
            <a:pPr algn="just"/>
            <a:endParaRPr lang="en-US" dirty="0">
              <a:solidFill>
                <a:schemeClr val="tx1">
                  <a:lumMod val="95000"/>
                  <a:lumOff val="5000"/>
                </a:schemeClr>
              </a:solidFill>
            </a:endParaRPr>
          </a:p>
          <a:p>
            <a:pPr marL="285750" indent="-285750" algn="just">
              <a:buFont typeface="Arial" panose="020B0604020202020204" pitchFamily="34" charset="0"/>
              <a:buChar char="•"/>
            </a:pPr>
            <a:r>
              <a:rPr lang="en-US" b="1" dirty="0">
                <a:solidFill>
                  <a:schemeClr val="tx1">
                    <a:lumMod val="95000"/>
                    <a:lumOff val="5000"/>
                  </a:schemeClr>
                </a:solidFill>
              </a:rPr>
              <a:t>Immutably Transparent: </a:t>
            </a:r>
            <a:r>
              <a:rPr lang="en-US" dirty="0">
                <a:solidFill>
                  <a:schemeClr val="tx1">
                    <a:lumMod val="95000"/>
                    <a:lumOff val="5000"/>
                  </a:schemeClr>
                </a:solidFill>
              </a:rPr>
              <a:t>All actions carried out by agents are logged immutably into the blockchain.</a:t>
            </a:r>
            <a:endParaRPr lang="en-IN" dirty="0">
              <a:solidFill>
                <a:schemeClr val="tx1">
                  <a:lumMod val="95000"/>
                  <a:lumOff val="5000"/>
                </a:schemeClr>
              </a:solidFill>
            </a:endParaRPr>
          </a:p>
        </p:txBody>
      </p:sp>
      <p:sp>
        <p:nvSpPr>
          <p:cNvPr id="18" name="Rounded Rectangle 17"/>
          <p:cNvSpPr/>
          <p:nvPr/>
        </p:nvSpPr>
        <p:spPr>
          <a:xfrm>
            <a:off x="614680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lvl="0" indent="-285750" algn="just">
              <a:buFont typeface="Arial" panose="020B0604020202020204" pitchFamily="34" charset="0"/>
              <a:buChar char="•"/>
            </a:pPr>
            <a:r>
              <a:rPr lang="en-IN" b="1" dirty="0">
                <a:solidFill>
                  <a:schemeClr val="tx1">
                    <a:lumMod val="95000"/>
                    <a:lumOff val="5000"/>
                  </a:schemeClr>
                </a:solidFill>
                <a:latin typeface="Times New Roman" panose="02020603050405020304" pitchFamily="18" charset="0"/>
                <a:cs typeface="Times New Roman" panose="02020603050405020304" pitchFamily="18" charset="0"/>
              </a:rPr>
              <a:t>High Cost &amp; Delay:</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Blockchain transactions and smart contracts can slow down task execution and increase operational costs. </a:t>
            </a:r>
          </a:p>
          <a:p>
            <a:pPr marL="285750" lvl="0" indent="-285750" algn="just">
              <a:buFont typeface="Arial" panose="020B0604020202020204" pitchFamily="34" charset="0"/>
              <a:buChar char="•"/>
            </a:pPr>
            <a:r>
              <a:rPr lang="en-IN" b="1" dirty="0">
                <a:solidFill>
                  <a:schemeClr val="tx1">
                    <a:lumMod val="95000"/>
                    <a:lumOff val="5000"/>
                  </a:schemeClr>
                </a:solidFill>
                <a:latin typeface="Times New Roman" panose="02020603050405020304" pitchFamily="18" charset="0"/>
                <a:cs typeface="Times New Roman" panose="02020603050405020304" pitchFamily="18" charset="0"/>
              </a:rPr>
              <a:t>Less Flexible:</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Updating workflows is difficult because smart contracts are not easily modified after deployment. </a:t>
            </a:r>
          </a:p>
          <a:p>
            <a:pPr marL="285750" lvl="0" indent="-285750" algn="just">
              <a:buFont typeface="Arial" panose="020B0604020202020204" pitchFamily="34" charset="0"/>
              <a:buChar char="•"/>
            </a:pPr>
            <a:r>
              <a:rPr lang="en-IN" b="1" dirty="0">
                <a:solidFill>
                  <a:schemeClr val="tx1">
                    <a:lumMod val="95000"/>
                    <a:lumOff val="5000"/>
                  </a:schemeClr>
                </a:solidFill>
                <a:latin typeface="Times New Roman" panose="02020603050405020304" pitchFamily="18" charset="0"/>
                <a:cs typeface="Times New Roman" panose="02020603050405020304" pitchFamily="18" charset="0"/>
              </a:rPr>
              <a:t>Privacy Concerns:</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Storing workflow information on a decentralized ledger may pose risks for sensitive enterprise data. </a:t>
            </a:r>
          </a:p>
          <a:p>
            <a:pPr marL="285750" lvl="0" indent="-285750" algn="just">
              <a:buFont typeface="Arial" panose="020B0604020202020204" pitchFamily="34" charset="0"/>
              <a:buChar char="•"/>
            </a:pPr>
            <a:r>
              <a:rPr lang="en-IN" b="1" dirty="0">
                <a:solidFill>
                  <a:schemeClr val="tx1">
                    <a:lumMod val="95000"/>
                    <a:lumOff val="5000"/>
                  </a:schemeClr>
                </a:solidFill>
                <a:latin typeface="Times New Roman" panose="02020603050405020304" pitchFamily="18" charset="0"/>
                <a:cs typeface="Times New Roman" panose="02020603050405020304" pitchFamily="18" charset="0"/>
              </a:rPr>
              <a:t>No Central Coordinator:</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Without a dedicated orchestrator, managing complex multi-step workflows can become inefficient and lead to delays.</a:t>
            </a:r>
          </a:p>
        </p:txBody>
      </p:sp>
      <p:sp>
        <p:nvSpPr>
          <p:cNvPr id="8" name="Rectangle 7"/>
          <p:cNvSpPr/>
          <p:nvPr/>
        </p:nvSpPr>
        <p:spPr>
          <a:xfrm>
            <a:off x="6259202"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393386"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393386" y="1799012"/>
            <a:ext cx="1075872"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Strengths</a:t>
            </a:r>
          </a:p>
        </p:txBody>
      </p:sp>
      <p:sp>
        <p:nvSpPr>
          <p:cNvPr id="20" name="TextBox 19"/>
          <p:cNvSpPr txBox="1"/>
          <p:nvPr/>
        </p:nvSpPr>
        <p:spPr>
          <a:xfrm>
            <a:off x="6259202" y="1779509"/>
            <a:ext cx="1249060"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Limitations</a:t>
            </a:r>
          </a:p>
        </p:txBody>
      </p:sp>
    </p:spTree>
    <p:extLst>
      <p:ext uri="{BB962C8B-B14F-4D97-AF65-F5344CB8AC3E}">
        <p14:creationId xmlns:p14="http://schemas.microsoft.com/office/powerpoint/2010/main" val="3421589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18-09-2026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9</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solidFill>
                  <a:srgbClr val="FF0000"/>
                </a:solidFill>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847221" y="31393"/>
            <a:ext cx="3256288"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a:t>
            </a:r>
            <a:r>
              <a:rPr lang="en-IN" sz="1200" dirty="0" err="1">
                <a:latin typeface="Times New Roman" panose="02020603050405020304" pitchFamily="18" charset="0"/>
                <a:cs typeface="Times New Roman" panose="02020603050405020304" pitchFamily="18" charset="0"/>
              </a:rPr>
              <a:t>Nuthi</a:t>
            </a:r>
            <a:r>
              <a:rPr lang="en-IN" sz="1200" dirty="0">
                <a:latin typeface="Times New Roman" panose="02020603050405020304" pitchFamily="18" charset="0"/>
                <a:cs typeface="Times New Roman" panose="02020603050405020304" pitchFamily="18" charset="0"/>
              </a:rPr>
              <a:t> Raju</a:t>
            </a:r>
          </a:p>
          <a:p>
            <a:r>
              <a:rPr lang="en-IN" sz="1200" dirty="0">
                <a:latin typeface="Times New Roman" panose="02020603050405020304" pitchFamily="18" charset="0"/>
                <a:cs typeface="Times New Roman" panose="02020603050405020304" pitchFamily="18" charset="0"/>
              </a:rPr>
              <a:t>Batch ID: C05</a:t>
            </a: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No:23BQ1A61D8,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No:23BQ1A61B8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No:23BQ1A61D3,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No:23BQ1A61E7</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Multi-Agent AI Business Assistant for Intelligent Enterprise Workflow Automation </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 Strengths &amp; Limitations </a:t>
            </a:r>
            <a:r>
              <a:rPr lang="en-IN" sz="1400" dirty="0">
                <a:latin typeface="Times New Roman" panose="02020603050405020304" pitchFamily="18" charset="0"/>
                <a:cs typeface="Times New Roman" panose="02020603050405020304" pitchFamily="18" charset="0"/>
              </a:rPr>
              <a:t>|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IN" sz="1400" b="1" dirty="0">
                <a:latin typeface="Times New Roman" panose="02020603050405020304" pitchFamily="18" charset="0"/>
                <a:cs typeface="Times New Roman" panose="02020603050405020304" pitchFamily="18" charset="0"/>
              </a:rPr>
              <a:t>Ref 02 – An Explainable AI Multi-Agent Recommender System </a:t>
            </a:r>
            <a:r>
              <a:rPr lang="en-IN" sz="1400" dirty="0">
                <a:latin typeface="Times New Roman" panose="02020603050405020304" pitchFamily="18" charset="0"/>
                <a:cs typeface="Times New Roman" panose="02020603050405020304" pitchFamily="18" charset="0"/>
              </a:rPr>
              <a:t> </a:t>
            </a:r>
          </a:p>
          <a:p>
            <a:r>
              <a:rPr lang="en-IN" sz="1400" i="1" dirty="0" err="1">
                <a:latin typeface="Times New Roman" panose="02020603050405020304" pitchFamily="18" charset="0"/>
                <a:cs typeface="Times New Roman" panose="02020603050405020304" pitchFamily="18" charset="0"/>
              </a:rPr>
              <a:t>Toudas</a:t>
            </a:r>
            <a:r>
              <a:rPr lang="en-IN" sz="1400" i="1" dirty="0">
                <a:latin typeface="Times New Roman" panose="02020603050405020304" pitchFamily="18" charset="0"/>
                <a:cs typeface="Times New Roman" panose="02020603050405020304" pitchFamily="18" charset="0"/>
              </a:rPr>
              <a:t> et al., 2026 | Information Systems Frontiers</a:t>
            </a:r>
            <a:endParaRPr lang="en-IN" sz="14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BD28F69-FCA9-305F-953F-68987D4CA9AC}"/>
              </a:ext>
            </a:extLst>
          </p:cNvPr>
          <p:cNvSpPr txBox="1"/>
          <p:nvPr/>
        </p:nvSpPr>
        <p:spPr>
          <a:xfrm>
            <a:off x="135928" y="1737360"/>
            <a:ext cx="11758892" cy="3570208"/>
          </a:xfrm>
          <a:prstGeom prst="rect">
            <a:avLst/>
          </a:prstGeom>
          <a:noFill/>
        </p:spPr>
        <p:txBody>
          <a:bodyPr wrap="square" rtlCol="0">
            <a:spAutoFit/>
          </a:bodyPr>
          <a:lstStyle/>
          <a:p>
            <a:pPr algn="just"/>
            <a:r>
              <a:rPr lang="en-IN" b="1" dirty="0">
                <a:latin typeface="Times New Roman" panose="02020603050405020304" pitchFamily="18" charset="0"/>
                <a:cs typeface="Times New Roman" panose="02020603050405020304" pitchFamily="18" charset="0"/>
              </a:rPr>
              <a:t>The Core Concept</a:t>
            </a:r>
          </a:p>
          <a:p>
            <a:pPr algn="just"/>
            <a:endParaRPr lang="en-IN" sz="1600" b="1"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The key concept of this paper is the development of an Explainable AI Multi-Agent System for making secure and transparent document access-control decisions in the financial sector. In contrast to the usual design, which involves the usage of one AI model, the proposed system employs multiple AI agents designed to perform different tasks and make decisions.</a:t>
            </a:r>
          </a:p>
          <a:p>
            <a:pPr algn="just"/>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Process of Work:</a:t>
            </a:r>
          </a:p>
          <a:p>
            <a:pPr algn="just"/>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Financial document submission to the system.</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All three specialist AI agents process the input document separately.</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They predict the level of document sensitivity (Public, Internal, Confidential, or Restricted).</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All predictions are collected by the orchestrator, and it reasons about them.</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It makes the final decision on document classification.</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What is more important, it makes the explainable reasoning about the decision made.</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8590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18-09-2026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10</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solidFill>
                  <a:srgbClr val="FF0000"/>
                </a:solidFill>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839200" y="31393"/>
            <a:ext cx="3264309"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a:t>
            </a:r>
            <a:r>
              <a:rPr lang="en-IN" sz="1200" dirty="0" err="1">
                <a:latin typeface="Times New Roman" panose="02020603050405020304" pitchFamily="18" charset="0"/>
                <a:cs typeface="Times New Roman" panose="02020603050405020304" pitchFamily="18" charset="0"/>
              </a:rPr>
              <a:t>Nuthi</a:t>
            </a:r>
            <a:r>
              <a:rPr lang="en-IN" sz="1200" dirty="0">
                <a:latin typeface="Times New Roman" panose="02020603050405020304" pitchFamily="18" charset="0"/>
                <a:cs typeface="Times New Roman" panose="02020603050405020304" pitchFamily="18" charset="0"/>
              </a:rPr>
              <a:t> Raju</a:t>
            </a:r>
          </a:p>
          <a:p>
            <a:r>
              <a:rPr lang="en-IN" sz="1200" dirty="0">
                <a:latin typeface="Times New Roman" panose="02020603050405020304" pitchFamily="18" charset="0"/>
                <a:cs typeface="Times New Roman" panose="02020603050405020304" pitchFamily="18" charset="0"/>
              </a:rPr>
              <a:t>Batch ID: C05</a:t>
            </a: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No:23BQ1A61D8,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No:23BQ1A61B8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No:23BQ1A61D3,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No:23BQ1A61E7</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Multi-Agent AI Business Assistant for Intelligent Enterprise Workflow Automation </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a:t>
            </a:r>
            <a:r>
              <a:rPr lang="en-IN" sz="1400" dirty="0">
                <a:latin typeface="Times New Roman" panose="02020603050405020304" pitchFamily="18" charset="0"/>
                <a:cs typeface="Times New Roman" panose="02020603050405020304" pitchFamily="18" charset="0"/>
              </a:rPr>
              <a:t>| 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IN" sz="1400" b="1" dirty="0">
                <a:latin typeface="Times New Roman" panose="02020603050405020304" pitchFamily="18" charset="0"/>
                <a:cs typeface="Times New Roman" panose="02020603050405020304" pitchFamily="18" charset="0"/>
              </a:rPr>
              <a:t>Ref 02 – An Explainable AI Multi-Agent Recommender System </a:t>
            </a:r>
            <a:r>
              <a:rPr lang="en-IN" sz="1400" dirty="0">
                <a:latin typeface="Times New Roman" panose="02020603050405020304" pitchFamily="18" charset="0"/>
                <a:cs typeface="Times New Roman" panose="02020603050405020304" pitchFamily="18" charset="0"/>
              </a:rPr>
              <a:t> </a:t>
            </a:r>
          </a:p>
          <a:p>
            <a:r>
              <a:rPr lang="en-IN" sz="1400" i="1" dirty="0" err="1">
                <a:latin typeface="Times New Roman" panose="02020603050405020304" pitchFamily="18" charset="0"/>
                <a:cs typeface="Times New Roman" panose="02020603050405020304" pitchFamily="18" charset="0"/>
              </a:rPr>
              <a:t>Toudas</a:t>
            </a:r>
            <a:r>
              <a:rPr lang="en-IN" sz="1400" i="1" dirty="0">
                <a:latin typeface="Times New Roman" panose="02020603050405020304" pitchFamily="18" charset="0"/>
                <a:cs typeface="Times New Roman" panose="02020603050405020304" pitchFamily="18" charset="0"/>
              </a:rPr>
              <a:t> et al., 2026 | Information Systems Frontiers</a:t>
            </a:r>
            <a:endParaRPr lang="en-IN" sz="1400" dirty="0">
              <a:latin typeface="Times New Roman" panose="02020603050405020304" pitchFamily="18" charset="0"/>
              <a:cs typeface="Times New Roman" panose="02020603050405020304" pitchFamily="18" charset="0"/>
            </a:endParaRPr>
          </a:p>
        </p:txBody>
      </p:sp>
      <p:sp>
        <p:nvSpPr>
          <p:cNvPr id="7" name="Rounded Rectangle 6"/>
          <p:cNvSpPr/>
          <p:nvPr/>
        </p:nvSpPr>
        <p:spPr>
          <a:xfrm>
            <a:off x="26416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lvl="0" indent="-285750" algn="just">
              <a:buFont typeface="Arial" panose="020B0604020202020204" pitchFamily="34" charset="0"/>
              <a:buChar char="•"/>
            </a:pPr>
            <a:r>
              <a:rPr lang="en-IN" b="1" dirty="0">
                <a:solidFill>
                  <a:schemeClr val="tx1">
                    <a:lumMod val="95000"/>
                    <a:lumOff val="5000"/>
                  </a:schemeClr>
                </a:solidFill>
                <a:latin typeface="Times New Roman" panose="02020603050405020304" pitchFamily="18" charset="0"/>
                <a:cs typeface="Times New Roman" panose="02020603050405020304" pitchFamily="18" charset="0"/>
              </a:rPr>
              <a:t>High Transparency:</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Provides clear, human-readable explanations for every access-control decision. </a:t>
            </a:r>
          </a:p>
          <a:p>
            <a:pPr marL="285750" lvl="0" indent="-285750" algn="just">
              <a:buFont typeface="Arial" panose="020B0604020202020204" pitchFamily="34" charset="0"/>
              <a:buChar char="•"/>
            </a:pPr>
            <a:r>
              <a:rPr lang="en-IN" b="1" dirty="0">
                <a:solidFill>
                  <a:schemeClr val="tx1">
                    <a:lumMod val="95000"/>
                    <a:lumOff val="5000"/>
                  </a:schemeClr>
                </a:solidFill>
                <a:latin typeface="Times New Roman" panose="02020603050405020304" pitchFamily="18" charset="0"/>
                <a:cs typeface="Times New Roman" panose="02020603050405020304" pitchFamily="18" charset="0"/>
              </a:rPr>
              <a:t>Supports Compliance:</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Helps organizations meet regulatory and auditing requirements. </a:t>
            </a:r>
          </a:p>
          <a:p>
            <a:pPr marL="285750" lvl="0" indent="-285750" algn="just">
              <a:buFont typeface="Arial" panose="020B0604020202020204" pitchFamily="34" charset="0"/>
              <a:buChar char="•"/>
            </a:pPr>
            <a:r>
              <a:rPr lang="en-IN" b="1" dirty="0">
                <a:solidFill>
                  <a:schemeClr val="tx1">
                    <a:lumMod val="95000"/>
                    <a:lumOff val="5000"/>
                  </a:schemeClr>
                </a:solidFill>
                <a:latin typeface="Times New Roman" panose="02020603050405020304" pitchFamily="18" charset="0"/>
                <a:cs typeface="Times New Roman" panose="02020603050405020304" pitchFamily="18" charset="0"/>
              </a:rPr>
              <a:t>Collaborative Decision-Making:</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Multiple AI agents work together, improving decision reliability. </a:t>
            </a:r>
          </a:p>
          <a:p>
            <a:pPr marL="285750" lvl="0" indent="-285750" algn="just">
              <a:buFont typeface="Arial" panose="020B0604020202020204" pitchFamily="34" charset="0"/>
              <a:buChar char="•"/>
            </a:pPr>
            <a:r>
              <a:rPr lang="en-IN" b="1" dirty="0">
                <a:solidFill>
                  <a:schemeClr val="tx1">
                    <a:lumMod val="95000"/>
                    <a:lumOff val="5000"/>
                  </a:schemeClr>
                </a:solidFill>
                <a:latin typeface="Times New Roman" panose="02020603050405020304" pitchFamily="18" charset="0"/>
                <a:cs typeface="Times New Roman" panose="02020603050405020304" pitchFamily="18" charset="0"/>
              </a:rPr>
              <a:t>Reduces Black-Box Decisions:</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Auditors and managers can understand and verify the reasoning behind classifications. </a:t>
            </a:r>
          </a:p>
          <a:p>
            <a:pPr marL="285750" lvl="0" indent="-285750" algn="just">
              <a:buFont typeface="Arial" panose="020B0604020202020204" pitchFamily="34" charset="0"/>
              <a:buChar char="•"/>
            </a:pPr>
            <a:r>
              <a:rPr lang="en-IN" b="1" dirty="0">
                <a:solidFill>
                  <a:schemeClr val="tx1">
                    <a:lumMod val="95000"/>
                    <a:lumOff val="5000"/>
                  </a:schemeClr>
                </a:solidFill>
                <a:latin typeface="Times New Roman" panose="02020603050405020304" pitchFamily="18" charset="0"/>
                <a:cs typeface="Times New Roman" panose="02020603050405020304" pitchFamily="18" charset="0"/>
              </a:rPr>
              <a:t>Improved Accuracy:</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Combines outputs from multiple models to make more trustworthy decisions.</a:t>
            </a:r>
          </a:p>
        </p:txBody>
      </p:sp>
      <p:sp>
        <p:nvSpPr>
          <p:cNvPr id="18" name="Rounded Rectangle 17"/>
          <p:cNvSpPr/>
          <p:nvPr/>
        </p:nvSpPr>
        <p:spPr>
          <a:xfrm>
            <a:off x="614680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lvl="0" indent="-285750">
              <a:buFont typeface="Arial" panose="020B0604020202020204" pitchFamily="34" charset="0"/>
              <a:buChar char="•"/>
            </a:pPr>
            <a:r>
              <a:rPr lang="en-IN" b="1" dirty="0">
                <a:solidFill>
                  <a:schemeClr val="tx1">
                    <a:lumMod val="95000"/>
                    <a:lumOff val="5000"/>
                  </a:schemeClr>
                </a:solidFill>
                <a:latin typeface="Times New Roman" panose="02020603050405020304" pitchFamily="18" charset="0"/>
                <a:cs typeface="Times New Roman" panose="02020603050405020304" pitchFamily="18" charset="0"/>
              </a:rPr>
              <a:t>Domain-Specific:</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Designed only for financial document classification and access control. </a:t>
            </a:r>
          </a:p>
          <a:p>
            <a:pPr marL="285750" lvl="0" indent="-285750">
              <a:buFont typeface="Arial" panose="020B0604020202020204" pitchFamily="34" charset="0"/>
              <a:buChar char="•"/>
            </a:pPr>
            <a:r>
              <a:rPr lang="en-IN" b="1" dirty="0">
                <a:solidFill>
                  <a:schemeClr val="tx1">
                    <a:lumMod val="95000"/>
                    <a:lumOff val="5000"/>
                  </a:schemeClr>
                </a:solidFill>
                <a:latin typeface="Times New Roman" panose="02020603050405020304" pitchFamily="18" charset="0"/>
                <a:cs typeface="Times New Roman" panose="02020603050405020304" pitchFamily="18" charset="0"/>
              </a:rPr>
              <a:t>No Cross-Department Collaboration:</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Cannot coordinate tasks across HR, Finance, IT, Email, or other departments. </a:t>
            </a:r>
          </a:p>
          <a:p>
            <a:pPr marL="285750" lvl="0" indent="-285750">
              <a:buFont typeface="Arial" panose="020B0604020202020204" pitchFamily="34" charset="0"/>
              <a:buChar char="•"/>
            </a:pPr>
            <a:r>
              <a:rPr lang="en-IN" b="1" dirty="0">
                <a:solidFill>
                  <a:schemeClr val="tx1">
                    <a:lumMod val="95000"/>
                    <a:lumOff val="5000"/>
                  </a:schemeClr>
                </a:solidFill>
                <a:latin typeface="Times New Roman" panose="02020603050405020304" pitchFamily="18" charset="0"/>
                <a:cs typeface="Times New Roman" panose="02020603050405020304" pitchFamily="18" charset="0"/>
              </a:rPr>
              <a:t>Recommendation-Based:</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Suggests decisions but does not execute tasks automatically. </a:t>
            </a:r>
          </a:p>
          <a:p>
            <a:pPr marL="285750" lvl="0" indent="-285750">
              <a:buFont typeface="Arial" panose="020B0604020202020204" pitchFamily="34" charset="0"/>
              <a:buChar char="•"/>
            </a:pPr>
            <a:r>
              <a:rPr lang="en-IN" b="1" dirty="0">
                <a:solidFill>
                  <a:schemeClr val="tx1">
                    <a:lumMod val="95000"/>
                    <a:lumOff val="5000"/>
                  </a:schemeClr>
                </a:solidFill>
                <a:latin typeface="Times New Roman" panose="02020603050405020304" pitchFamily="18" charset="0"/>
                <a:cs typeface="Times New Roman" panose="02020603050405020304" pitchFamily="18" charset="0"/>
              </a:rPr>
              <a:t>Limited Enterprise Automation:</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Not suitable for managing complete business workflows from start to finish. </a:t>
            </a:r>
          </a:p>
          <a:p>
            <a:pPr marL="285750" lvl="0" indent="-285750">
              <a:buFont typeface="Arial" panose="020B0604020202020204" pitchFamily="34" charset="0"/>
              <a:buChar char="•"/>
            </a:pPr>
            <a:r>
              <a:rPr lang="en-IN" b="1" dirty="0">
                <a:solidFill>
                  <a:schemeClr val="tx1">
                    <a:lumMod val="95000"/>
                    <a:lumOff val="5000"/>
                  </a:schemeClr>
                </a:solidFill>
                <a:latin typeface="Times New Roman" panose="02020603050405020304" pitchFamily="18" charset="0"/>
                <a:cs typeface="Times New Roman" panose="02020603050405020304" pitchFamily="18" charset="0"/>
              </a:rPr>
              <a:t>Restricted Scope:</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Focuses on access-control decisions rather than general business operations.</a:t>
            </a:r>
          </a:p>
          <a:p>
            <a:pPr marL="285750" indent="-285750">
              <a:buFont typeface="Arial" panose="020B0604020202020204" pitchFamily="34" charset="0"/>
              <a:buChar char="•"/>
            </a:pP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8" name="Rectangle 7"/>
          <p:cNvSpPr/>
          <p:nvPr/>
        </p:nvSpPr>
        <p:spPr>
          <a:xfrm>
            <a:off x="6259202"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393386"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393386" y="1799012"/>
            <a:ext cx="1075872"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Strengths</a:t>
            </a:r>
          </a:p>
        </p:txBody>
      </p:sp>
      <p:sp>
        <p:nvSpPr>
          <p:cNvPr id="20" name="TextBox 19"/>
          <p:cNvSpPr txBox="1"/>
          <p:nvPr/>
        </p:nvSpPr>
        <p:spPr>
          <a:xfrm>
            <a:off x="6259202" y="1779509"/>
            <a:ext cx="1249060"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Limitations</a:t>
            </a:r>
          </a:p>
        </p:txBody>
      </p:sp>
    </p:spTree>
    <p:extLst>
      <p:ext uri="{BB962C8B-B14F-4D97-AF65-F5344CB8AC3E}">
        <p14:creationId xmlns:p14="http://schemas.microsoft.com/office/powerpoint/2010/main" val="1753889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18-09-2026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11</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solidFill>
                  <a:srgbClr val="FF0000"/>
                </a:solidFill>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839200" y="31393"/>
            <a:ext cx="3264309"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a:t>
            </a:r>
            <a:r>
              <a:rPr lang="en-IN" sz="1200" dirty="0" err="1">
                <a:latin typeface="Times New Roman" panose="02020603050405020304" pitchFamily="18" charset="0"/>
                <a:cs typeface="Times New Roman" panose="02020603050405020304" pitchFamily="18" charset="0"/>
              </a:rPr>
              <a:t>Nuthi</a:t>
            </a:r>
            <a:r>
              <a:rPr lang="en-IN" sz="1200" dirty="0">
                <a:latin typeface="Times New Roman" panose="02020603050405020304" pitchFamily="18" charset="0"/>
                <a:cs typeface="Times New Roman" panose="02020603050405020304" pitchFamily="18" charset="0"/>
              </a:rPr>
              <a:t> Raju</a:t>
            </a:r>
          </a:p>
          <a:p>
            <a:r>
              <a:rPr lang="en-IN" sz="1200" dirty="0">
                <a:latin typeface="Times New Roman" panose="02020603050405020304" pitchFamily="18" charset="0"/>
                <a:cs typeface="Times New Roman" panose="02020603050405020304" pitchFamily="18" charset="0"/>
              </a:rPr>
              <a:t>Batch ID: C05</a:t>
            </a: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No:23BQ1A61D8,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No:23BQ1A61B8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No:23BQ1A61D3,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No:23BQ1A61E7</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Multi-Agent AI Business Assistant for Intelligent Enterprise Workflow Automation </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 Strengths &amp; Limitations </a:t>
            </a:r>
            <a:r>
              <a:rPr lang="en-IN" sz="1400" dirty="0">
                <a:solidFill>
                  <a:schemeClr val="tx1">
                    <a:lumMod val="95000"/>
                    <a:lumOff val="5000"/>
                  </a:schemeClr>
                </a:solidFill>
                <a:latin typeface="Times New Roman" panose="02020603050405020304" pitchFamily="18" charset="0"/>
                <a:cs typeface="Times New Roman" panose="02020603050405020304" pitchFamily="18" charset="0"/>
              </a:rPr>
              <a:t>|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IN" sz="1400" b="1" dirty="0">
                <a:latin typeface="Times New Roman" panose="02020603050405020304" pitchFamily="18" charset="0"/>
                <a:cs typeface="Times New Roman" panose="02020603050405020304" pitchFamily="18" charset="0"/>
              </a:rPr>
              <a:t>Ref 03 – Hybrid Multi-Agent </a:t>
            </a:r>
            <a:r>
              <a:rPr lang="en-IN" sz="1400" b="1" dirty="0" err="1">
                <a:latin typeface="Times New Roman" panose="02020603050405020304" pitchFamily="18" charset="0"/>
                <a:cs typeface="Times New Roman" panose="02020603050405020304" pitchFamily="18" charset="0"/>
              </a:rPr>
              <a:t>GraphRAG</a:t>
            </a:r>
            <a:r>
              <a:rPr lang="en-IN" sz="1400" b="1" dirty="0">
                <a:latin typeface="Times New Roman" panose="02020603050405020304" pitchFamily="18" charset="0"/>
                <a:cs typeface="Times New Roman" panose="02020603050405020304" pitchFamily="18" charset="0"/>
              </a:rPr>
              <a:t> for E-Government </a:t>
            </a:r>
          </a:p>
          <a:p>
            <a:r>
              <a:rPr lang="en-IN" sz="1400" dirty="0">
                <a:latin typeface="Times New Roman" panose="02020603050405020304" pitchFamily="18" charset="0"/>
                <a:cs typeface="Times New Roman" panose="02020603050405020304" pitchFamily="18" charset="0"/>
              </a:rPr>
              <a:t> </a:t>
            </a:r>
            <a:r>
              <a:rPr lang="en-IN" sz="1400" i="1" dirty="0">
                <a:latin typeface="Times New Roman" panose="02020603050405020304" pitchFamily="18" charset="0"/>
                <a:cs typeface="Times New Roman" panose="02020603050405020304" pitchFamily="18" charset="0"/>
              </a:rPr>
              <a:t>Papageorgiou et al., 2025 | Applied Sciences</a:t>
            </a:r>
            <a:endParaRPr lang="en-IN" sz="1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B16841C-4A83-6189-E03F-2FB32218112B}"/>
              </a:ext>
            </a:extLst>
          </p:cNvPr>
          <p:cNvSpPr txBox="1"/>
          <p:nvPr/>
        </p:nvSpPr>
        <p:spPr>
          <a:xfrm>
            <a:off x="135928" y="1737360"/>
            <a:ext cx="11758892" cy="3816429"/>
          </a:xfrm>
          <a:prstGeom prst="rect">
            <a:avLst/>
          </a:prstGeom>
          <a:noFill/>
        </p:spPr>
        <p:txBody>
          <a:bodyPr wrap="square" rtlCol="0">
            <a:spAutoFit/>
          </a:bodyPr>
          <a:lstStyle/>
          <a:p>
            <a:pPr algn="just"/>
            <a:r>
              <a:rPr lang="en-IN" b="1" dirty="0">
                <a:latin typeface="Times New Roman" panose="02020603050405020304" pitchFamily="18" charset="0"/>
                <a:cs typeface="Times New Roman" panose="02020603050405020304" pitchFamily="18" charset="0"/>
              </a:rPr>
              <a:t>The Core Concept</a:t>
            </a:r>
          </a:p>
          <a:p>
            <a:pPr algn="just"/>
            <a:endParaRPr lang="en-IN" sz="1600" b="1"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This system is a combination of </a:t>
            </a:r>
            <a:r>
              <a:rPr lang="en-US" sz="1600" dirty="0" err="1">
                <a:latin typeface="Times New Roman" panose="02020603050405020304" pitchFamily="18" charset="0"/>
                <a:cs typeface="Times New Roman" panose="02020603050405020304" pitchFamily="18" charset="0"/>
              </a:rPr>
              <a:t>GraphRAG</a:t>
            </a:r>
            <a:r>
              <a:rPr lang="en-US" sz="1600" dirty="0">
                <a:latin typeface="Times New Roman" panose="02020603050405020304" pitchFamily="18" charset="0"/>
                <a:cs typeface="Times New Roman" panose="02020603050405020304" pitchFamily="18" charset="0"/>
              </a:rPr>
              <a:t> (Knowledge Graphs + Retrieval-Augmented Generation) along with many AI agents that generate accurate and explainable answers for complex policy and government-related questions. The difference between our system and existing retrieval-based approaches is that instead of searching documents only, we use knowledge graphs that understand connections between entities, policies, and regulations to generate an answer.</a:t>
            </a:r>
          </a:p>
          <a:p>
            <a:pPr algn="just"/>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Process of Work:</a:t>
            </a:r>
          </a:p>
          <a:p>
            <a:pPr algn="just"/>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600" dirty="0"/>
              <a:t>A user submits a complex policy or government-related query.</a:t>
            </a:r>
          </a:p>
          <a:p>
            <a:pPr marL="285750" indent="-285750" algn="just">
              <a:buFont typeface="Arial" panose="020B0604020202020204" pitchFamily="34" charset="0"/>
              <a:buChar char="•"/>
            </a:pPr>
            <a:r>
              <a:rPr lang="en-IN" sz="1600" dirty="0"/>
              <a:t>Retrieval agents search for relevant information from government documents, knowledge graphs, and web sources.</a:t>
            </a:r>
          </a:p>
          <a:p>
            <a:pPr marL="285750" indent="-285750" algn="just">
              <a:buFont typeface="Arial" panose="020B0604020202020204" pitchFamily="34" charset="0"/>
              <a:buChar char="•"/>
            </a:pPr>
            <a:r>
              <a:rPr lang="en-IN" sz="1600" dirty="0"/>
              <a:t>Graph-based reasoning identifies relationships between entities, regulations, and policies.</a:t>
            </a:r>
          </a:p>
          <a:p>
            <a:pPr marL="285750" indent="-285750" algn="just">
              <a:buFont typeface="Arial" panose="020B0604020202020204" pitchFamily="34" charset="0"/>
              <a:buChar char="•"/>
            </a:pPr>
            <a:r>
              <a:rPr lang="en-IN" sz="1600" dirty="0"/>
              <a:t>Verification agents validate and cross-check the retrieved information.</a:t>
            </a:r>
          </a:p>
          <a:p>
            <a:pPr marL="285750" indent="-285750" algn="just">
              <a:buFont typeface="Arial" panose="020B0604020202020204" pitchFamily="34" charset="0"/>
              <a:buChar char="•"/>
            </a:pPr>
            <a:r>
              <a:rPr lang="en-IN" sz="1600" dirty="0"/>
              <a:t>The system combines the collected evidence and generates a response.</a:t>
            </a:r>
          </a:p>
          <a:p>
            <a:pPr marL="285750" indent="-285750" algn="just">
              <a:buFont typeface="Arial" panose="020B0604020202020204" pitchFamily="34" charset="0"/>
              <a:buChar char="•"/>
            </a:pPr>
            <a:r>
              <a:rPr lang="en-IN" sz="1600" dirty="0"/>
              <a:t>The final answer is provided with source references and explanations to ensure transparency and reliability.</a:t>
            </a:r>
          </a:p>
        </p:txBody>
      </p:sp>
    </p:spTree>
    <p:extLst>
      <p:ext uri="{BB962C8B-B14F-4D97-AF65-F5344CB8AC3E}">
        <p14:creationId xmlns:p14="http://schemas.microsoft.com/office/powerpoint/2010/main" val="3981910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18-09-2026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12</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solidFill>
                  <a:srgbClr val="FF0000"/>
                </a:solidFill>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854634" y="31393"/>
            <a:ext cx="3248876"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a:t>
            </a:r>
            <a:r>
              <a:rPr lang="en-IN" sz="1200" dirty="0" err="1">
                <a:latin typeface="Times New Roman" panose="02020603050405020304" pitchFamily="18" charset="0"/>
                <a:cs typeface="Times New Roman" panose="02020603050405020304" pitchFamily="18" charset="0"/>
              </a:rPr>
              <a:t>Nuthi</a:t>
            </a:r>
            <a:r>
              <a:rPr lang="en-IN" sz="1200" dirty="0">
                <a:latin typeface="Times New Roman" panose="02020603050405020304" pitchFamily="18" charset="0"/>
                <a:cs typeface="Times New Roman" panose="02020603050405020304" pitchFamily="18" charset="0"/>
              </a:rPr>
              <a:t> Raju</a:t>
            </a:r>
          </a:p>
          <a:p>
            <a:r>
              <a:rPr lang="en-IN" sz="1200" dirty="0">
                <a:latin typeface="Times New Roman" panose="02020603050405020304" pitchFamily="18" charset="0"/>
                <a:cs typeface="Times New Roman" panose="02020603050405020304" pitchFamily="18" charset="0"/>
              </a:rPr>
              <a:t>Batch ID: C05</a:t>
            </a: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No:23BQ1A61D8,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No:23BQ1A61B8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No:23BQ1A61D3,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No:23BQ1A61E7</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Multi-Agent AI Business Assistant for Intelligent Enterprise Workflow Automation </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a:t>
            </a:r>
            <a:r>
              <a:rPr lang="en-IN" sz="1400" dirty="0">
                <a:latin typeface="Times New Roman" panose="02020603050405020304" pitchFamily="18" charset="0"/>
                <a:cs typeface="Times New Roman" panose="02020603050405020304" pitchFamily="18" charset="0"/>
              </a:rPr>
              <a:t>| 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IN" sz="1400" b="1" dirty="0">
                <a:latin typeface="Times New Roman" panose="02020603050405020304" pitchFamily="18" charset="0"/>
                <a:cs typeface="Times New Roman" panose="02020603050405020304" pitchFamily="18" charset="0"/>
              </a:rPr>
              <a:t>Ref 03 – Hybrid Multi-Agent </a:t>
            </a:r>
            <a:r>
              <a:rPr lang="en-IN" sz="1400" b="1" dirty="0" err="1">
                <a:latin typeface="Times New Roman" panose="02020603050405020304" pitchFamily="18" charset="0"/>
                <a:cs typeface="Times New Roman" panose="02020603050405020304" pitchFamily="18" charset="0"/>
              </a:rPr>
              <a:t>GraphRAG</a:t>
            </a:r>
            <a:r>
              <a:rPr lang="en-IN" sz="1400" b="1" dirty="0">
                <a:latin typeface="Times New Roman" panose="02020603050405020304" pitchFamily="18" charset="0"/>
                <a:cs typeface="Times New Roman" panose="02020603050405020304" pitchFamily="18" charset="0"/>
              </a:rPr>
              <a:t> for E-Government </a:t>
            </a:r>
          </a:p>
          <a:p>
            <a:r>
              <a:rPr lang="en-IN" sz="1400" dirty="0">
                <a:latin typeface="Times New Roman" panose="02020603050405020304" pitchFamily="18" charset="0"/>
                <a:cs typeface="Times New Roman" panose="02020603050405020304" pitchFamily="18" charset="0"/>
              </a:rPr>
              <a:t> </a:t>
            </a:r>
            <a:r>
              <a:rPr lang="en-IN" sz="1400" i="1" dirty="0">
                <a:latin typeface="Times New Roman" panose="02020603050405020304" pitchFamily="18" charset="0"/>
                <a:cs typeface="Times New Roman" panose="02020603050405020304" pitchFamily="18" charset="0"/>
              </a:rPr>
              <a:t>Papageorgiou et al., 2025 | Applied Sciences</a:t>
            </a:r>
            <a:endParaRPr lang="en-IN" sz="1400" dirty="0">
              <a:latin typeface="Times New Roman" panose="02020603050405020304" pitchFamily="18" charset="0"/>
              <a:cs typeface="Times New Roman" panose="02020603050405020304" pitchFamily="18" charset="0"/>
            </a:endParaRPr>
          </a:p>
        </p:txBody>
      </p:sp>
      <p:sp>
        <p:nvSpPr>
          <p:cNvPr id="7" name="Rounded Rectangle 6"/>
          <p:cNvSpPr/>
          <p:nvPr/>
        </p:nvSpPr>
        <p:spPr>
          <a:xfrm>
            <a:off x="26416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lvl="0" indent="-285750" algn="just">
              <a:buFont typeface="Arial" panose="020B0604020202020204" pitchFamily="34" charset="0"/>
              <a:buChar char="•"/>
            </a:pPr>
            <a:r>
              <a:rPr lang="en-IN" b="1" dirty="0">
                <a:solidFill>
                  <a:schemeClr val="tx1">
                    <a:lumMod val="95000"/>
                    <a:lumOff val="5000"/>
                  </a:schemeClr>
                </a:solidFill>
                <a:latin typeface="Times New Roman" panose="02020603050405020304" pitchFamily="18" charset="0"/>
                <a:cs typeface="Times New Roman" panose="02020603050405020304" pitchFamily="18" charset="0"/>
              </a:rPr>
              <a:t>Highly Accurate Information Retrieval</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through </a:t>
            </a:r>
            <a:r>
              <a:rPr lang="en-IN" dirty="0" err="1">
                <a:solidFill>
                  <a:schemeClr val="tx1">
                    <a:lumMod val="95000"/>
                    <a:lumOff val="5000"/>
                  </a:schemeClr>
                </a:solidFill>
                <a:latin typeface="Times New Roman" panose="02020603050405020304" pitchFamily="18" charset="0"/>
                <a:cs typeface="Times New Roman" panose="02020603050405020304" pitchFamily="18" charset="0"/>
              </a:rPr>
              <a:t>GraphRAG</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and multi-source verification. </a:t>
            </a:r>
          </a:p>
          <a:p>
            <a:pPr marL="285750" lvl="0" indent="-285750" algn="just">
              <a:buFont typeface="Arial" panose="020B0604020202020204" pitchFamily="34" charset="0"/>
              <a:buChar char="•"/>
            </a:pPr>
            <a:r>
              <a:rPr lang="en-IN" b="1" dirty="0">
                <a:solidFill>
                  <a:schemeClr val="tx1">
                    <a:lumMod val="95000"/>
                    <a:lumOff val="5000"/>
                  </a:schemeClr>
                </a:solidFill>
                <a:latin typeface="Times New Roman" panose="02020603050405020304" pitchFamily="18" charset="0"/>
                <a:cs typeface="Times New Roman" panose="02020603050405020304" pitchFamily="18" charset="0"/>
              </a:rPr>
              <a:t>Reduced Hallucinations</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by grounding responses in retrieved evidence. </a:t>
            </a:r>
          </a:p>
          <a:p>
            <a:pPr marL="285750" lvl="0" indent="-285750" algn="just">
              <a:buFont typeface="Arial" panose="020B0604020202020204" pitchFamily="34" charset="0"/>
              <a:buChar char="•"/>
            </a:pPr>
            <a:r>
              <a:rPr lang="en-IN" b="1" dirty="0">
                <a:solidFill>
                  <a:schemeClr val="tx1">
                    <a:lumMod val="95000"/>
                    <a:lumOff val="5000"/>
                  </a:schemeClr>
                </a:solidFill>
                <a:latin typeface="Times New Roman" panose="02020603050405020304" pitchFamily="18" charset="0"/>
                <a:cs typeface="Times New Roman" panose="02020603050405020304" pitchFamily="18" charset="0"/>
              </a:rPr>
              <a:t>Explainable and Traceable Answers</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with source-linked reasoning. </a:t>
            </a:r>
          </a:p>
          <a:p>
            <a:pPr marL="285750" lvl="0" indent="-285750" algn="just">
              <a:buFont typeface="Arial" panose="020B0604020202020204" pitchFamily="34" charset="0"/>
              <a:buChar char="•"/>
            </a:pPr>
            <a:r>
              <a:rPr lang="en-IN" b="1" dirty="0">
                <a:solidFill>
                  <a:schemeClr val="tx1">
                    <a:lumMod val="95000"/>
                    <a:lumOff val="5000"/>
                  </a:schemeClr>
                </a:solidFill>
                <a:latin typeface="Times New Roman" panose="02020603050405020304" pitchFamily="18" charset="0"/>
                <a:cs typeface="Times New Roman" panose="02020603050405020304" pitchFamily="18" charset="0"/>
              </a:rPr>
              <a:t>Supports Complex Multi-Hop Reasoning</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across interconnected data sources. </a:t>
            </a:r>
          </a:p>
          <a:p>
            <a:pPr marL="285750" lvl="0" indent="-285750" algn="just">
              <a:buFont typeface="Arial" panose="020B0604020202020204" pitchFamily="34" charset="0"/>
              <a:buChar char="•"/>
            </a:pPr>
            <a:r>
              <a:rPr lang="en-IN" b="1" dirty="0">
                <a:solidFill>
                  <a:schemeClr val="tx1">
                    <a:lumMod val="95000"/>
                    <a:lumOff val="5000"/>
                  </a:schemeClr>
                </a:solidFill>
                <a:latin typeface="Times New Roman" panose="02020603050405020304" pitchFamily="18" charset="0"/>
                <a:cs typeface="Times New Roman" panose="02020603050405020304" pitchFamily="18" charset="0"/>
              </a:rPr>
              <a:t>Improved Trustworthiness</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for domains requiring factual accuracy and transparency</a:t>
            </a:r>
          </a:p>
          <a:p>
            <a:pPr marL="285750" indent="-285750" algn="just">
              <a:buFont typeface="Arial" panose="020B0604020202020204" pitchFamily="34" charset="0"/>
              <a:buChar char="•"/>
            </a:pPr>
            <a:endParaRPr lang="en-IN"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8" name="Rounded Rectangle 17"/>
          <p:cNvSpPr/>
          <p:nvPr/>
        </p:nvSpPr>
        <p:spPr>
          <a:xfrm>
            <a:off x="614680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lvl="0" indent="-285750">
              <a:buFont typeface="Arial" panose="020B0604020202020204" pitchFamily="34" charset="0"/>
              <a:buChar char="•"/>
            </a:pPr>
            <a:r>
              <a:rPr lang="en-IN" b="1" dirty="0">
                <a:solidFill>
                  <a:schemeClr val="tx1">
                    <a:lumMod val="95000"/>
                    <a:lumOff val="5000"/>
                  </a:schemeClr>
                </a:solidFill>
                <a:latin typeface="Times New Roman" panose="02020603050405020304" pitchFamily="18" charset="0"/>
                <a:cs typeface="Times New Roman" panose="02020603050405020304" pitchFamily="18" charset="0"/>
              </a:rPr>
              <a:t>Read-Only System:</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Designed mainly for information retrieval and question answering. </a:t>
            </a:r>
          </a:p>
          <a:p>
            <a:pPr marL="285750" lvl="0" indent="-285750">
              <a:buFont typeface="Arial" panose="020B0604020202020204" pitchFamily="34" charset="0"/>
              <a:buChar char="•"/>
            </a:pPr>
            <a:r>
              <a:rPr lang="en-IN" b="1" dirty="0">
                <a:solidFill>
                  <a:schemeClr val="tx1">
                    <a:lumMod val="95000"/>
                    <a:lumOff val="5000"/>
                  </a:schemeClr>
                </a:solidFill>
                <a:latin typeface="Times New Roman" panose="02020603050405020304" pitchFamily="18" charset="0"/>
                <a:cs typeface="Times New Roman" panose="02020603050405020304" pitchFamily="18" charset="0"/>
              </a:rPr>
              <a:t>No Task Execution:</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Can provide guidance but cannot perform business operations automatically. </a:t>
            </a:r>
          </a:p>
          <a:p>
            <a:pPr marL="285750" lvl="0" indent="-285750">
              <a:buFont typeface="Arial" panose="020B0604020202020204" pitchFamily="34" charset="0"/>
              <a:buChar char="•"/>
            </a:pPr>
            <a:r>
              <a:rPr lang="en-IN" b="1" dirty="0">
                <a:solidFill>
                  <a:schemeClr val="tx1">
                    <a:lumMod val="95000"/>
                    <a:lumOff val="5000"/>
                  </a:schemeClr>
                </a:solidFill>
                <a:latin typeface="Times New Roman" panose="02020603050405020304" pitchFamily="18" charset="0"/>
                <a:cs typeface="Times New Roman" panose="02020603050405020304" pitchFamily="18" charset="0"/>
              </a:rPr>
              <a:t>No Enterprise Workflow Automation:</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Does not coordinate HR, Finance, IT, or other departments. </a:t>
            </a:r>
          </a:p>
          <a:p>
            <a:pPr marL="285750" lvl="0" indent="-285750">
              <a:buFont typeface="Arial" panose="020B0604020202020204" pitchFamily="34" charset="0"/>
              <a:buChar char="•"/>
            </a:pPr>
            <a:r>
              <a:rPr lang="en-IN" b="1" dirty="0">
                <a:solidFill>
                  <a:schemeClr val="tx1">
                    <a:lumMod val="95000"/>
                    <a:lumOff val="5000"/>
                  </a:schemeClr>
                </a:solidFill>
                <a:latin typeface="Times New Roman" panose="02020603050405020304" pitchFamily="18" charset="0"/>
                <a:cs typeface="Times New Roman" panose="02020603050405020304" pitchFamily="18" charset="0"/>
              </a:rPr>
              <a:t>Limited Operational Capability:</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Focuses on finding and explaining information rather than taking actions based on it. </a:t>
            </a:r>
          </a:p>
          <a:p>
            <a:pPr marL="285750" lvl="0" indent="-285750">
              <a:buFont typeface="Arial" panose="020B0604020202020204" pitchFamily="34" charset="0"/>
              <a:buChar char="•"/>
            </a:pPr>
            <a:r>
              <a:rPr lang="en-IN" b="1" dirty="0">
                <a:solidFill>
                  <a:schemeClr val="tx1">
                    <a:lumMod val="95000"/>
                    <a:lumOff val="5000"/>
                  </a:schemeClr>
                </a:solidFill>
                <a:latin typeface="Times New Roman" panose="02020603050405020304" pitchFamily="18" charset="0"/>
                <a:cs typeface="Times New Roman" panose="02020603050405020304" pitchFamily="18" charset="0"/>
              </a:rPr>
              <a:t>Not Designed for End-to-End Business Processes:</a:t>
            </a:r>
            <a:r>
              <a:rPr lang="en-IN" dirty="0">
                <a:solidFill>
                  <a:schemeClr val="tx1">
                    <a:lumMod val="95000"/>
                    <a:lumOff val="5000"/>
                  </a:schemeClr>
                </a:solidFill>
                <a:latin typeface="Times New Roman" panose="02020603050405020304" pitchFamily="18" charset="0"/>
                <a:cs typeface="Times New Roman" panose="02020603050405020304" pitchFamily="18" charset="0"/>
              </a:rPr>
              <a:t> Lacks workflow orchestration for enterprise tasks.</a:t>
            </a:r>
          </a:p>
        </p:txBody>
      </p:sp>
      <p:sp>
        <p:nvSpPr>
          <p:cNvPr id="8" name="Rectangle 7"/>
          <p:cNvSpPr/>
          <p:nvPr/>
        </p:nvSpPr>
        <p:spPr>
          <a:xfrm>
            <a:off x="6259202"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393386"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393386" y="1799012"/>
            <a:ext cx="1075872"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Strengths</a:t>
            </a:r>
          </a:p>
        </p:txBody>
      </p:sp>
      <p:sp>
        <p:nvSpPr>
          <p:cNvPr id="20" name="TextBox 19"/>
          <p:cNvSpPr txBox="1"/>
          <p:nvPr/>
        </p:nvSpPr>
        <p:spPr>
          <a:xfrm>
            <a:off x="6259202" y="1779509"/>
            <a:ext cx="1249060"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Limitations</a:t>
            </a:r>
          </a:p>
        </p:txBody>
      </p:sp>
    </p:spTree>
    <p:extLst>
      <p:ext uri="{BB962C8B-B14F-4D97-AF65-F5344CB8AC3E}">
        <p14:creationId xmlns:p14="http://schemas.microsoft.com/office/powerpoint/2010/main" val="2598163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18-09-2026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13</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7" y="877163"/>
            <a:ext cx="7167697" cy="400110"/>
          </a:xfrm>
          <a:prstGeom prst="rect">
            <a:avLst/>
          </a:prstGeom>
          <a:noFill/>
        </p:spPr>
        <p:txBody>
          <a:bodyPr wrap="square" rtlCol="0">
            <a:spAutoFit/>
          </a:bodyPr>
          <a:lstStyle/>
          <a:p>
            <a:r>
              <a:rPr lang="en-IN" sz="2000" dirty="0">
                <a:solidFill>
                  <a:srgbClr val="FF0000"/>
                </a:solidFill>
                <a:latin typeface="Times New Roman" panose="02020603050405020304" pitchFamily="18" charset="0"/>
                <a:cs typeface="Times New Roman" panose="02020603050405020304" pitchFamily="18" charset="0"/>
              </a:rPr>
              <a:t>Literature Review - Summary</a:t>
            </a:r>
          </a:p>
        </p:txBody>
      </p:sp>
      <p:sp>
        <p:nvSpPr>
          <p:cNvPr id="2" name="TextBox 1">
            <a:extLst>
              <a:ext uri="{FF2B5EF4-FFF2-40B4-BE49-F238E27FC236}">
                <a16:creationId xmlns:a16="http://schemas.microsoft.com/office/drawing/2014/main" id="{50EC79EE-C1C4-E275-0987-67B7B3A60CCB}"/>
              </a:ext>
            </a:extLst>
          </p:cNvPr>
          <p:cNvSpPr txBox="1"/>
          <p:nvPr/>
        </p:nvSpPr>
        <p:spPr>
          <a:xfrm>
            <a:off x="8835092" y="31393"/>
            <a:ext cx="3268417"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a:t>
            </a:r>
            <a:r>
              <a:rPr lang="en-IN" sz="1200" dirty="0" err="1">
                <a:latin typeface="Times New Roman" panose="02020603050405020304" pitchFamily="18" charset="0"/>
                <a:cs typeface="Times New Roman" panose="02020603050405020304" pitchFamily="18" charset="0"/>
              </a:rPr>
              <a:t>Nuthi</a:t>
            </a:r>
            <a:r>
              <a:rPr lang="en-IN" sz="1200" dirty="0">
                <a:latin typeface="Times New Roman" panose="02020603050405020304" pitchFamily="18" charset="0"/>
                <a:cs typeface="Times New Roman" panose="02020603050405020304" pitchFamily="18" charset="0"/>
              </a:rPr>
              <a:t> Raju</a:t>
            </a:r>
          </a:p>
          <a:p>
            <a:r>
              <a:rPr lang="en-IN" sz="1200" dirty="0">
                <a:latin typeface="Times New Roman" panose="02020603050405020304" pitchFamily="18" charset="0"/>
                <a:cs typeface="Times New Roman" panose="02020603050405020304" pitchFamily="18" charset="0"/>
              </a:rPr>
              <a:t>Batch ID: C05</a:t>
            </a: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No:23BQ1A61D8,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No:23BQ1A61B8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No:23BQ1A61D3,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No:23BQ1A61E7</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Multi-Agent AI Business Assistant for Intelligent Enterprise Workflow Automation </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graphicFrame>
        <p:nvGraphicFramePr>
          <p:cNvPr id="7" name="Table 6"/>
          <p:cNvGraphicFramePr>
            <a:graphicFrameLocks noGrp="1"/>
          </p:cNvGraphicFramePr>
          <p:nvPr>
            <p:extLst>
              <p:ext uri="{D42A27DB-BD31-4B8C-83A1-F6EECF244321}">
                <p14:modId xmlns:p14="http://schemas.microsoft.com/office/powerpoint/2010/main" val="1652180758"/>
              </p:ext>
            </p:extLst>
          </p:nvPr>
        </p:nvGraphicFramePr>
        <p:xfrm>
          <a:off x="582592" y="1437294"/>
          <a:ext cx="10887920" cy="3929198"/>
        </p:xfrm>
        <a:graphic>
          <a:graphicData uri="http://schemas.openxmlformats.org/drawingml/2006/table">
            <a:tbl>
              <a:tblPr firstRow="1" bandRow="1">
                <a:tableStyleId>{5940675A-B579-460E-94D1-54222C63F5DA}</a:tableStyleId>
              </a:tblPr>
              <a:tblGrid>
                <a:gridCol w="1859666">
                  <a:extLst>
                    <a:ext uri="{9D8B030D-6E8A-4147-A177-3AD203B41FA5}">
                      <a16:colId xmlns:a16="http://schemas.microsoft.com/office/drawing/2014/main" val="20000"/>
                    </a:ext>
                  </a:extLst>
                </a:gridCol>
                <a:gridCol w="1632031">
                  <a:extLst>
                    <a:ext uri="{9D8B030D-6E8A-4147-A177-3AD203B41FA5}">
                      <a16:colId xmlns:a16="http://schemas.microsoft.com/office/drawing/2014/main" val="20001"/>
                    </a:ext>
                  </a:extLst>
                </a:gridCol>
                <a:gridCol w="3041055">
                  <a:extLst>
                    <a:ext uri="{9D8B030D-6E8A-4147-A177-3AD203B41FA5}">
                      <a16:colId xmlns:a16="http://schemas.microsoft.com/office/drawing/2014/main" val="20002"/>
                    </a:ext>
                  </a:extLst>
                </a:gridCol>
                <a:gridCol w="2177584">
                  <a:extLst>
                    <a:ext uri="{9D8B030D-6E8A-4147-A177-3AD203B41FA5}">
                      <a16:colId xmlns:a16="http://schemas.microsoft.com/office/drawing/2014/main" val="20003"/>
                    </a:ext>
                  </a:extLst>
                </a:gridCol>
                <a:gridCol w="2177584">
                  <a:extLst>
                    <a:ext uri="{9D8B030D-6E8A-4147-A177-3AD203B41FA5}">
                      <a16:colId xmlns:a16="http://schemas.microsoft.com/office/drawing/2014/main" val="20004"/>
                    </a:ext>
                  </a:extLst>
                </a:gridCol>
              </a:tblGrid>
              <a:tr h="728798">
                <a:tc>
                  <a:txBody>
                    <a:bodyPr/>
                    <a:lstStyle/>
                    <a:p>
                      <a:pPr marL="0" marR="0" indent="0" algn="l">
                        <a:buNone/>
                      </a:pPr>
                      <a:r>
                        <a:rPr lang="en-IN" sz="1600" b="0" i="0" dirty="0">
                          <a:solidFill>
                            <a:schemeClr val="tx1">
                              <a:lumMod val="95000"/>
                              <a:lumOff val="5000"/>
                            </a:schemeClr>
                          </a:solidFill>
                          <a:effectLst/>
                          <a:latin typeface="Times New Roman" panose="02020603050405020304" pitchFamily="18" charset="0"/>
                          <a:cs typeface="Times New Roman" panose="02020603050405020304" pitchFamily="18" charset="0"/>
                        </a:rPr>
                        <a:t>Reference</a:t>
                      </a:r>
                    </a:p>
                  </a:txBody>
                  <a:tcPr anchor="ctr">
                    <a:solidFill>
                      <a:schemeClr val="bg1">
                        <a:lumMod val="85000"/>
                      </a:schemeClr>
                    </a:solidFill>
                  </a:tcPr>
                </a:tc>
                <a:tc>
                  <a:txBody>
                    <a:bodyPr/>
                    <a:lstStyle/>
                    <a:p>
                      <a:pPr marL="0" marR="0" indent="0" algn="ctr">
                        <a:buNone/>
                      </a:pPr>
                      <a:r>
                        <a:rPr lang="en-IN" sz="1600" b="0" i="0">
                          <a:solidFill>
                            <a:schemeClr val="tx1">
                              <a:lumMod val="95000"/>
                              <a:lumOff val="5000"/>
                            </a:schemeClr>
                          </a:solidFill>
                          <a:effectLst/>
                          <a:latin typeface="Times New Roman" panose="02020603050405020304" pitchFamily="18" charset="0"/>
                          <a:cs typeface="Times New Roman" panose="02020603050405020304" pitchFamily="18" charset="0"/>
                        </a:rPr>
                        <a:t>Year</a:t>
                      </a:r>
                    </a:p>
                  </a:txBody>
                  <a:tcPr anchor="ctr">
                    <a:solidFill>
                      <a:schemeClr val="bg1">
                        <a:lumMod val="85000"/>
                      </a:schemeClr>
                    </a:solidFill>
                  </a:tcPr>
                </a:tc>
                <a:tc>
                  <a:txBody>
                    <a:bodyPr/>
                    <a:lstStyle/>
                    <a:p>
                      <a:pPr marL="0" marR="0" indent="0" algn="l">
                        <a:buNone/>
                      </a:pPr>
                      <a:r>
                        <a:rPr lang="en-IN" sz="1600" b="0" i="0">
                          <a:solidFill>
                            <a:schemeClr val="tx1">
                              <a:lumMod val="95000"/>
                              <a:lumOff val="5000"/>
                            </a:schemeClr>
                          </a:solidFill>
                          <a:effectLst/>
                          <a:latin typeface="Times New Roman" panose="02020603050405020304" pitchFamily="18" charset="0"/>
                          <a:cs typeface="Times New Roman" panose="02020603050405020304" pitchFamily="18" charset="0"/>
                        </a:rPr>
                        <a:t>Main Idea</a:t>
                      </a:r>
                    </a:p>
                  </a:txBody>
                  <a:tcPr anchor="ctr">
                    <a:solidFill>
                      <a:schemeClr val="bg1">
                        <a:lumMod val="85000"/>
                      </a:schemeClr>
                    </a:solidFill>
                  </a:tcPr>
                </a:tc>
                <a:tc>
                  <a:txBody>
                    <a:bodyPr/>
                    <a:lstStyle/>
                    <a:p>
                      <a:pPr marL="0" marR="0" indent="0" algn="l">
                        <a:buNone/>
                      </a:pPr>
                      <a:r>
                        <a:rPr lang="en-IN" sz="1600" b="0" i="0">
                          <a:solidFill>
                            <a:schemeClr val="tx1">
                              <a:lumMod val="95000"/>
                              <a:lumOff val="5000"/>
                            </a:schemeClr>
                          </a:solidFill>
                          <a:effectLst/>
                          <a:latin typeface="Times New Roman" panose="02020603050405020304" pitchFamily="18" charset="0"/>
                          <a:cs typeface="Times New Roman" panose="02020603050405020304" pitchFamily="18" charset="0"/>
                        </a:rPr>
                        <a:t>Strengths</a:t>
                      </a:r>
                    </a:p>
                  </a:txBody>
                  <a:tcPr anchor="ctr">
                    <a:solidFill>
                      <a:schemeClr val="bg1">
                        <a:lumMod val="85000"/>
                      </a:schemeClr>
                    </a:solidFill>
                  </a:tcPr>
                </a:tc>
                <a:tc>
                  <a:txBody>
                    <a:bodyPr/>
                    <a:lstStyle/>
                    <a:p>
                      <a:pPr marL="0" marR="0" indent="0" algn="l">
                        <a:buNone/>
                      </a:pPr>
                      <a:r>
                        <a:rPr lang="en-IN" sz="1600" b="0" i="0">
                          <a:solidFill>
                            <a:schemeClr val="tx1">
                              <a:lumMod val="95000"/>
                              <a:lumOff val="5000"/>
                            </a:schemeClr>
                          </a:solidFill>
                          <a:effectLst/>
                          <a:latin typeface="Times New Roman" panose="02020603050405020304" pitchFamily="18" charset="0"/>
                          <a:cs typeface="Times New Roman" panose="02020603050405020304" pitchFamily="18" charset="0"/>
                        </a:rPr>
                        <a:t>Limitations</a:t>
                      </a:r>
                    </a:p>
                  </a:txBody>
                  <a:tcPr anchor="ctr">
                    <a:solidFill>
                      <a:schemeClr val="bg1">
                        <a:lumMod val="85000"/>
                      </a:schemeClr>
                    </a:solidFill>
                  </a:tcPr>
                </a:tc>
                <a:extLst>
                  <a:ext uri="{0D108BD9-81ED-4DB2-BD59-A6C34878D82A}">
                    <a16:rowId xmlns:a16="http://schemas.microsoft.com/office/drawing/2014/main" val="10000"/>
                  </a:ext>
                </a:extLst>
              </a:tr>
              <a:tr h="728798">
                <a:tc>
                  <a:txBody>
                    <a:bodyPr/>
                    <a:lstStyle/>
                    <a:p>
                      <a:pPr marL="0" marR="0" indent="0" algn="l">
                        <a:buNone/>
                      </a:pPr>
                      <a:r>
                        <a:rPr lang="en-IN" sz="1600" b="1" i="0">
                          <a:solidFill>
                            <a:schemeClr val="tx1">
                              <a:lumMod val="95000"/>
                              <a:lumOff val="5000"/>
                            </a:schemeClr>
                          </a:solidFill>
                          <a:effectLst/>
                          <a:latin typeface="Times New Roman" panose="02020603050405020304" pitchFamily="18" charset="0"/>
                          <a:cs typeface="Times New Roman" panose="02020603050405020304" pitchFamily="18" charset="0"/>
                        </a:rPr>
                        <a:t>Jin et al.</a:t>
                      </a:r>
                      <a:endParaRPr lang="en-IN" sz="1600" b="0" i="0">
                        <a:solidFill>
                          <a:schemeClr val="tx1">
                            <a:lumMod val="95000"/>
                            <a:lumOff val="5000"/>
                          </a:schemeClr>
                        </a:solidFill>
                        <a:effectLst/>
                        <a:latin typeface="Times New Roman" panose="02020603050405020304" pitchFamily="18" charset="0"/>
                        <a:cs typeface="Times New Roman" panose="02020603050405020304" pitchFamily="18" charset="0"/>
                      </a:endParaRPr>
                    </a:p>
                  </a:txBody>
                  <a:tcPr anchor="ctr"/>
                </a:tc>
                <a:tc>
                  <a:txBody>
                    <a:bodyPr/>
                    <a:lstStyle/>
                    <a:p>
                      <a:pPr marL="0" marR="0" indent="0" algn="ctr">
                        <a:buNone/>
                      </a:pPr>
                      <a:r>
                        <a:rPr lang="en-IN" sz="1600" b="0" i="0">
                          <a:solidFill>
                            <a:schemeClr val="tx1">
                              <a:lumMod val="95000"/>
                              <a:lumOff val="5000"/>
                            </a:schemeClr>
                          </a:solidFill>
                          <a:effectLst/>
                          <a:latin typeface="Times New Roman" panose="02020603050405020304" pitchFamily="18" charset="0"/>
                          <a:cs typeface="Times New Roman" panose="02020603050405020304" pitchFamily="18" charset="0"/>
                        </a:rPr>
                        <a:t>2024</a:t>
                      </a:r>
                    </a:p>
                  </a:txBody>
                  <a:tcPr anchor="ctr"/>
                </a:tc>
                <a:tc>
                  <a:txBody>
                    <a:bodyPr/>
                    <a:lstStyle/>
                    <a:p>
                      <a:pPr marL="0" marR="0" indent="0" algn="l">
                        <a:buNone/>
                      </a:pPr>
                      <a:r>
                        <a:rPr lang="en-IN" sz="1600" b="0" i="0">
                          <a:solidFill>
                            <a:schemeClr val="tx1">
                              <a:lumMod val="95000"/>
                              <a:lumOff val="5000"/>
                            </a:schemeClr>
                          </a:solidFill>
                          <a:effectLst/>
                          <a:latin typeface="Times New Roman" panose="02020603050405020304" pitchFamily="18" charset="0"/>
                          <a:cs typeface="Times New Roman" panose="02020603050405020304" pitchFamily="18" charset="0"/>
                        </a:rPr>
                        <a:t>LLM agents collaborate autonomously using decentralized blockchain smart contracts.</a:t>
                      </a:r>
                    </a:p>
                  </a:txBody>
                  <a:tcPr anchor="ctr"/>
                </a:tc>
                <a:tc>
                  <a:txBody>
                    <a:bodyPr/>
                    <a:lstStyle/>
                    <a:p>
                      <a:pPr marL="0" marR="0" indent="0" algn="l">
                        <a:buNone/>
                      </a:pPr>
                      <a:r>
                        <a:rPr lang="en-IN" sz="1600" b="0" i="0">
                          <a:solidFill>
                            <a:schemeClr val="tx1">
                              <a:lumMod val="95000"/>
                              <a:lumOff val="5000"/>
                            </a:schemeClr>
                          </a:solidFill>
                          <a:effectLst/>
                          <a:latin typeface="Times New Roman" panose="02020603050405020304" pitchFamily="18" charset="0"/>
                          <a:cs typeface="Times New Roman" panose="02020603050405020304" pitchFamily="18" charset="0"/>
                        </a:rPr>
                        <a:t>No single point of failure; creates immutable and transparent audit logs.</a:t>
                      </a:r>
                    </a:p>
                  </a:txBody>
                  <a:tcPr anchor="ctr"/>
                </a:tc>
                <a:tc>
                  <a:txBody>
                    <a:bodyPr/>
                    <a:lstStyle/>
                    <a:p>
                      <a:pPr marL="0" marR="0" indent="0" algn="l">
                        <a:buNone/>
                      </a:pPr>
                      <a:r>
                        <a:rPr lang="en-IN" sz="1600" b="0" i="0">
                          <a:solidFill>
                            <a:schemeClr val="tx1">
                              <a:lumMod val="95000"/>
                              <a:lumOff val="5000"/>
                            </a:schemeClr>
                          </a:solidFill>
                          <a:effectLst/>
                          <a:latin typeface="Times New Roman" panose="02020603050405020304" pitchFamily="18" charset="0"/>
                          <a:cs typeface="Times New Roman" panose="02020603050405020304" pitchFamily="18" charset="0"/>
                        </a:rPr>
                        <a:t>High latency, rigid logic, and presents privacy risks for sensitive corporate data.</a:t>
                      </a:r>
                    </a:p>
                  </a:txBody>
                  <a:tcPr anchor="ctr"/>
                </a:tc>
                <a:extLst>
                  <a:ext uri="{0D108BD9-81ED-4DB2-BD59-A6C34878D82A}">
                    <a16:rowId xmlns:a16="http://schemas.microsoft.com/office/drawing/2014/main" val="10001"/>
                  </a:ext>
                </a:extLst>
              </a:tr>
              <a:tr h="728798">
                <a:tc>
                  <a:txBody>
                    <a:bodyPr/>
                    <a:lstStyle/>
                    <a:p>
                      <a:pPr marL="0" marR="0" indent="0" algn="l">
                        <a:buNone/>
                      </a:pPr>
                      <a:r>
                        <a:rPr lang="en-IN" sz="1600" b="1" i="0">
                          <a:solidFill>
                            <a:schemeClr val="tx1">
                              <a:lumMod val="95000"/>
                              <a:lumOff val="5000"/>
                            </a:schemeClr>
                          </a:solidFill>
                          <a:effectLst/>
                          <a:latin typeface="Times New Roman" panose="02020603050405020304" pitchFamily="18" charset="0"/>
                          <a:cs typeface="Times New Roman" panose="02020603050405020304" pitchFamily="18" charset="0"/>
                        </a:rPr>
                        <a:t>Papageorgiou et al.</a:t>
                      </a:r>
                      <a:endParaRPr lang="en-IN" sz="1600" b="0" i="0">
                        <a:solidFill>
                          <a:schemeClr val="tx1">
                            <a:lumMod val="95000"/>
                            <a:lumOff val="5000"/>
                          </a:schemeClr>
                        </a:solidFill>
                        <a:effectLst/>
                        <a:latin typeface="Times New Roman" panose="02020603050405020304" pitchFamily="18" charset="0"/>
                        <a:cs typeface="Times New Roman" panose="02020603050405020304" pitchFamily="18" charset="0"/>
                      </a:endParaRPr>
                    </a:p>
                  </a:txBody>
                  <a:tcPr anchor="ctr"/>
                </a:tc>
                <a:tc>
                  <a:txBody>
                    <a:bodyPr/>
                    <a:lstStyle/>
                    <a:p>
                      <a:pPr marL="0" marR="0" indent="0" algn="ctr">
                        <a:buNone/>
                      </a:pPr>
                      <a:r>
                        <a:rPr lang="en-IN" sz="1600" b="0" i="0">
                          <a:solidFill>
                            <a:schemeClr val="tx1">
                              <a:lumMod val="95000"/>
                              <a:lumOff val="5000"/>
                            </a:schemeClr>
                          </a:solidFill>
                          <a:effectLst/>
                          <a:latin typeface="Times New Roman" panose="02020603050405020304" pitchFamily="18" charset="0"/>
                          <a:cs typeface="Times New Roman" panose="02020603050405020304" pitchFamily="18" charset="0"/>
                        </a:rPr>
                        <a:t>2025</a:t>
                      </a:r>
                    </a:p>
                  </a:txBody>
                  <a:tcPr anchor="ctr"/>
                </a:tc>
                <a:tc>
                  <a:txBody>
                    <a:bodyPr/>
                    <a:lstStyle/>
                    <a:p>
                      <a:pPr marL="0" marR="0" indent="0" algn="l">
                        <a:buNone/>
                      </a:pPr>
                      <a:r>
                        <a:rPr lang="en-IN" sz="1600" b="0" i="0">
                          <a:solidFill>
                            <a:schemeClr val="tx1">
                              <a:lumMod val="95000"/>
                              <a:lumOff val="5000"/>
                            </a:schemeClr>
                          </a:solidFill>
                          <a:effectLst/>
                          <a:latin typeface="Times New Roman" panose="02020603050405020304" pitchFamily="18" charset="0"/>
                          <a:cs typeface="Times New Roman" panose="02020603050405020304" pitchFamily="18" charset="0"/>
                        </a:rPr>
                        <a:t>Uses multi-agent GraphRAG to answer complex e-government queries via knowledge graphs.</a:t>
                      </a:r>
                    </a:p>
                  </a:txBody>
                  <a:tcPr anchor="ctr"/>
                </a:tc>
                <a:tc>
                  <a:txBody>
                    <a:bodyPr/>
                    <a:lstStyle/>
                    <a:p>
                      <a:pPr marL="0" marR="0" indent="0" algn="l">
                        <a:buNone/>
                      </a:pPr>
                      <a:r>
                        <a:rPr lang="en-IN" sz="1600" b="0" i="0">
                          <a:solidFill>
                            <a:schemeClr val="tx1">
                              <a:lumMod val="95000"/>
                              <a:lumOff val="5000"/>
                            </a:schemeClr>
                          </a:solidFill>
                          <a:effectLst/>
                          <a:latin typeface="Times New Roman" panose="02020603050405020304" pitchFamily="18" charset="0"/>
                          <a:cs typeface="Times New Roman" panose="02020603050405020304" pitchFamily="18" charset="0"/>
                        </a:rPr>
                        <a:t>Highly accurate relationship mapping; drastically reduces AI hallucinations.</a:t>
                      </a:r>
                    </a:p>
                  </a:txBody>
                  <a:tcPr anchor="ctr"/>
                </a:tc>
                <a:tc>
                  <a:txBody>
                    <a:bodyPr/>
                    <a:lstStyle/>
                    <a:p>
                      <a:pPr marL="0" marR="0" indent="0" algn="l">
                        <a:buNone/>
                      </a:pPr>
                      <a:r>
                        <a:rPr lang="en-IN" sz="1600" b="0" i="0">
                          <a:solidFill>
                            <a:schemeClr val="tx1">
                              <a:lumMod val="95000"/>
                              <a:lumOff val="5000"/>
                            </a:schemeClr>
                          </a:solidFill>
                          <a:effectLst/>
                          <a:latin typeface="Times New Roman" panose="02020603050405020304" pitchFamily="18" charset="0"/>
                          <a:cs typeface="Times New Roman" panose="02020603050405020304" pitchFamily="18" charset="0"/>
                        </a:rPr>
                        <a:t>Read-only system; limited to fetching information rather than executing workflows.</a:t>
                      </a:r>
                    </a:p>
                  </a:txBody>
                  <a:tcPr anchor="ctr"/>
                </a:tc>
                <a:extLst>
                  <a:ext uri="{0D108BD9-81ED-4DB2-BD59-A6C34878D82A}">
                    <a16:rowId xmlns:a16="http://schemas.microsoft.com/office/drawing/2014/main" val="10002"/>
                  </a:ext>
                </a:extLst>
              </a:tr>
              <a:tr h="728798">
                <a:tc>
                  <a:txBody>
                    <a:bodyPr/>
                    <a:lstStyle/>
                    <a:p>
                      <a:pPr marL="0" marR="0" indent="0" algn="l">
                        <a:buNone/>
                      </a:pPr>
                      <a:r>
                        <a:rPr lang="en-IN" sz="1600" b="1" i="0" dirty="0" err="1">
                          <a:solidFill>
                            <a:schemeClr val="tx1">
                              <a:lumMod val="95000"/>
                              <a:lumOff val="5000"/>
                            </a:schemeClr>
                          </a:solidFill>
                          <a:effectLst/>
                          <a:latin typeface="Times New Roman" panose="02020603050405020304" pitchFamily="18" charset="0"/>
                          <a:cs typeface="Times New Roman" panose="02020603050405020304" pitchFamily="18" charset="0"/>
                        </a:rPr>
                        <a:t>Toudas</a:t>
                      </a:r>
                      <a:r>
                        <a:rPr lang="en-IN" sz="1600" b="1" i="0" dirty="0">
                          <a:solidFill>
                            <a:schemeClr val="tx1">
                              <a:lumMod val="95000"/>
                              <a:lumOff val="5000"/>
                            </a:schemeClr>
                          </a:solidFill>
                          <a:effectLst/>
                          <a:latin typeface="Times New Roman" panose="02020603050405020304" pitchFamily="18" charset="0"/>
                          <a:cs typeface="Times New Roman" panose="02020603050405020304" pitchFamily="18" charset="0"/>
                        </a:rPr>
                        <a:t> et al.</a:t>
                      </a:r>
                      <a:endParaRPr lang="en-IN" sz="1600" b="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txBody>
                  <a:tcPr anchor="ctr"/>
                </a:tc>
                <a:tc>
                  <a:txBody>
                    <a:bodyPr/>
                    <a:lstStyle/>
                    <a:p>
                      <a:pPr marL="0" marR="0" indent="0" algn="ctr">
                        <a:buNone/>
                      </a:pPr>
                      <a:r>
                        <a:rPr lang="en-IN" sz="1600" b="0" i="0">
                          <a:solidFill>
                            <a:schemeClr val="tx1">
                              <a:lumMod val="95000"/>
                              <a:lumOff val="5000"/>
                            </a:schemeClr>
                          </a:solidFill>
                          <a:effectLst/>
                          <a:latin typeface="Times New Roman" panose="02020603050405020304" pitchFamily="18" charset="0"/>
                          <a:cs typeface="Times New Roman" panose="02020603050405020304" pitchFamily="18" charset="0"/>
                        </a:rPr>
                        <a:t>2026</a:t>
                      </a:r>
                    </a:p>
                  </a:txBody>
                  <a:tcPr anchor="ctr"/>
                </a:tc>
                <a:tc>
                  <a:txBody>
                    <a:bodyPr/>
                    <a:lstStyle/>
                    <a:p>
                      <a:pPr marL="0" marR="0" indent="0" algn="l">
                        <a:buNone/>
                      </a:pPr>
                      <a:r>
                        <a:rPr lang="en-IN" sz="1600" b="0" i="0" dirty="0">
                          <a:solidFill>
                            <a:schemeClr val="tx1">
                              <a:lumMod val="95000"/>
                              <a:lumOff val="5000"/>
                            </a:schemeClr>
                          </a:solidFill>
                          <a:effectLst/>
                          <a:latin typeface="Times New Roman" panose="02020603050405020304" pitchFamily="18" charset="0"/>
                          <a:cs typeface="Times New Roman" panose="02020603050405020304" pitchFamily="18" charset="0"/>
                        </a:rPr>
                        <a:t>Multi-agent system using Explainable AI (XAI) to securely manage financial document access.</a:t>
                      </a:r>
                    </a:p>
                  </a:txBody>
                  <a:tcPr anchor="ctr"/>
                </a:tc>
                <a:tc>
                  <a:txBody>
                    <a:bodyPr/>
                    <a:lstStyle/>
                    <a:p>
                      <a:pPr marL="0" marR="0" indent="0" algn="l">
                        <a:buNone/>
                      </a:pPr>
                      <a:r>
                        <a:rPr lang="en-IN" sz="1600" b="0" i="0">
                          <a:solidFill>
                            <a:schemeClr val="tx1">
                              <a:lumMod val="95000"/>
                              <a:lumOff val="5000"/>
                            </a:schemeClr>
                          </a:solidFill>
                          <a:effectLst/>
                          <a:latin typeface="Times New Roman" panose="02020603050405020304" pitchFamily="18" charset="0"/>
                          <a:cs typeface="Times New Roman" panose="02020603050405020304" pitchFamily="18" charset="0"/>
                        </a:rPr>
                        <a:t>Excellent compliance; provides human-readable, transparent decision logic.</a:t>
                      </a:r>
                    </a:p>
                  </a:txBody>
                  <a:tcPr anchor="ctr"/>
                </a:tc>
                <a:tc>
                  <a:txBody>
                    <a:bodyPr/>
                    <a:lstStyle/>
                    <a:p>
                      <a:pPr marL="0" marR="0" indent="0" algn="l">
                        <a:buNone/>
                      </a:pPr>
                      <a:r>
                        <a:rPr lang="en-IN" sz="1600" b="0" i="0" dirty="0">
                          <a:solidFill>
                            <a:schemeClr val="tx1">
                              <a:lumMod val="95000"/>
                              <a:lumOff val="5000"/>
                            </a:schemeClr>
                          </a:solidFill>
                          <a:effectLst/>
                          <a:latin typeface="Times New Roman" panose="02020603050405020304" pitchFamily="18" charset="0"/>
                          <a:cs typeface="Times New Roman" panose="02020603050405020304" pitchFamily="18" charset="0"/>
                        </a:rPr>
                        <a:t>Narrowly focused; acts only as a recommender, not an active workflow executor.</a:t>
                      </a: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85858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18-09-2026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14</a:t>
            </a:fld>
            <a:endParaRPr lang="en-IN" sz="1800" dirty="0">
              <a:solidFill>
                <a:schemeClr val="tx1"/>
              </a:solidFill>
            </a:endParaRPr>
          </a:p>
        </p:txBody>
      </p:sp>
      <p:sp>
        <p:nvSpPr>
          <p:cNvPr id="2" name="TextBox 1">
            <a:extLst>
              <a:ext uri="{FF2B5EF4-FFF2-40B4-BE49-F238E27FC236}">
                <a16:creationId xmlns:a16="http://schemas.microsoft.com/office/drawing/2014/main" id="{50EC79EE-C1C4-E275-0987-67B7B3A60CCB}"/>
              </a:ext>
            </a:extLst>
          </p:cNvPr>
          <p:cNvSpPr txBox="1"/>
          <p:nvPr/>
        </p:nvSpPr>
        <p:spPr>
          <a:xfrm>
            <a:off x="8831484" y="31393"/>
            <a:ext cx="3272025"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a:t>
            </a:r>
            <a:r>
              <a:rPr lang="en-IN" sz="1200" dirty="0" err="1">
                <a:latin typeface="Times New Roman" panose="02020603050405020304" pitchFamily="18" charset="0"/>
                <a:cs typeface="Times New Roman" panose="02020603050405020304" pitchFamily="18" charset="0"/>
              </a:rPr>
              <a:t>Nuthi</a:t>
            </a:r>
            <a:r>
              <a:rPr lang="en-IN" sz="1200" dirty="0">
                <a:latin typeface="Times New Roman" panose="02020603050405020304" pitchFamily="18" charset="0"/>
                <a:cs typeface="Times New Roman" panose="02020603050405020304" pitchFamily="18" charset="0"/>
              </a:rPr>
              <a:t> Raju</a:t>
            </a:r>
          </a:p>
          <a:p>
            <a:r>
              <a:rPr lang="en-IN" sz="1200" dirty="0">
                <a:latin typeface="Times New Roman" panose="02020603050405020304" pitchFamily="18" charset="0"/>
                <a:cs typeface="Times New Roman" panose="02020603050405020304" pitchFamily="18" charset="0"/>
              </a:rPr>
              <a:t>Batch ID: C05</a:t>
            </a: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No:23BQ1A61D8,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No:23BQ1A61B8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No:23BQ1A61D3,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No:23BQ1A61E7</a:t>
            </a:r>
            <a:endParaRPr lang="en-IN" sz="1200"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Multi-Agent AI Business Assistant for Intelligent Enterprise Workflow Automation </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8" name="TextBox 7">
            <a:extLst>
              <a:ext uri="{FF2B5EF4-FFF2-40B4-BE49-F238E27FC236}">
                <a16:creationId xmlns:a16="http://schemas.microsoft.com/office/drawing/2014/main" id="{5052D244-B76B-E6B0-4AE7-147D96541E0B}"/>
              </a:ext>
            </a:extLst>
          </p:cNvPr>
          <p:cNvSpPr txBox="1"/>
          <p:nvPr/>
        </p:nvSpPr>
        <p:spPr>
          <a:xfrm flipH="1">
            <a:off x="271859" y="1708160"/>
            <a:ext cx="11920141" cy="3108543"/>
          </a:xfrm>
          <a:prstGeom prst="rect">
            <a:avLst/>
          </a:prstGeom>
          <a:noFill/>
        </p:spPr>
        <p:txBody>
          <a:bodyPr wrap="square" rtlCol="0">
            <a:spAutoFit/>
          </a:bodyPr>
          <a:lstStyle/>
          <a:p>
            <a:pPr algn="just"/>
            <a:r>
              <a:rPr lang="en-IN" b="1" dirty="0">
                <a:solidFill>
                  <a:srgbClr val="FF0000"/>
                </a:solidFill>
                <a:latin typeface="Times New Roman" panose="02020603050405020304" pitchFamily="18" charset="0"/>
                <a:cs typeface="Times New Roman" panose="02020603050405020304" pitchFamily="18" charset="0"/>
              </a:rPr>
              <a:t>Conclusion:</a:t>
            </a:r>
          </a:p>
          <a:p>
            <a:pPr algn="just"/>
            <a:endParaRPr lang="en-US" b="1"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The modern organization needs flawless integration between HR, Finance, and IT departments. However, neither the existing automation nor the single-agent AI can provide such integration. Moreover, we found out from our studies that although there are more advanced multi-agent systems available today, their major drawback is either slow execution and public accessibility (like decentralized blockchain agents), or inability to perform any actions other than answering questions (like </a:t>
            </a:r>
            <a:r>
              <a:rPr lang="en-US" sz="1600" dirty="0" err="1">
                <a:latin typeface="Times New Roman" panose="02020603050405020304" pitchFamily="18" charset="0"/>
                <a:cs typeface="Times New Roman" panose="02020603050405020304" pitchFamily="18" charset="0"/>
              </a:rPr>
              <a:t>GraphRAG</a:t>
            </a:r>
            <a:r>
              <a:rPr lang="en-US" sz="1600" dirty="0">
                <a:latin typeface="Times New Roman" panose="02020603050405020304" pitchFamily="18" charset="0"/>
                <a:cs typeface="Times New Roman" panose="02020603050405020304" pitchFamily="18" charset="0"/>
              </a:rPr>
              <a:t>).</a:t>
            </a:r>
          </a:p>
          <a:p>
            <a:pPr algn="just"/>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Our solution of the Multi-Agent AI Business Assistant is capable of closing those gaps through enabling AI to act from the passive recommendation tool to the active executioner. With the help of Intent Routing Engine and a central Coordinator agent, the system divides the requests into smaller pieces and distributes them between various domain-specific agents. They perform actions autonomously and securely with the help of integrated enterprise tools, such as payrolls and APIs, through asynchronous communication on an event-driven message bus. With an Execution Logger, this approach provides the speed, traceability, and autonomy of the digital workforce.</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099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18-09-2026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15</a:t>
            </a:fld>
            <a:endParaRPr lang="en-IN" sz="1800" dirty="0">
              <a:solidFill>
                <a:schemeClr val="tx1"/>
              </a:solidFill>
            </a:endParaRP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a:t>
            </a:r>
          </a:p>
          <a:p>
            <a:r>
              <a:rPr lang="en-IN" sz="1200" dirty="0">
                <a:latin typeface="Times New Roman" panose="02020603050405020304" pitchFamily="18" charset="0"/>
                <a:cs typeface="Times New Roman" panose="02020603050405020304" pitchFamily="18" charset="0"/>
              </a:rPr>
              <a:t>Batch ID:</a:t>
            </a: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No#1 (TL),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No#2,</a:t>
            </a:r>
          </a:p>
          <a:p>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No#3,                                  </a:t>
            </a:r>
            <a:r>
              <a:rPr lang="en-IN" sz="1200" dirty="0" err="1">
                <a:latin typeface="Times New Roman" panose="02020603050405020304" pitchFamily="18" charset="0"/>
                <a:cs typeface="Times New Roman" panose="02020603050405020304" pitchFamily="18" charset="0"/>
              </a:rPr>
              <a:t>Regd</a:t>
            </a:r>
            <a:r>
              <a:rPr lang="en-IN" sz="1200" dirty="0">
                <a:latin typeface="Times New Roman" panose="02020603050405020304" pitchFamily="18" charset="0"/>
                <a:cs typeface="Times New Roman" panose="02020603050405020304" pitchFamily="18" charset="0"/>
              </a:rPr>
              <a:t> No#4</a:t>
            </a:r>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Multi-Agent AI Business Assistant for Intelligent Enterprise Workflow Automation </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CSM @ VVIT</a:t>
            </a:r>
          </a:p>
        </p:txBody>
      </p:sp>
      <p:sp>
        <p:nvSpPr>
          <p:cNvPr id="6" name="TextBox 5"/>
          <p:cNvSpPr txBox="1"/>
          <p:nvPr/>
        </p:nvSpPr>
        <p:spPr>
          <a:xfrm>
            <a:off x="3596640" y="2410458"/>
            <a:ext cx="4517431" cy="830997"/>
          </a:xfrm>
          <a:prstGeom prst="rect">
            <a:avLst/>
          </a:prstGeom>
          <a:noFill/>
        </p:spPr>
        <p:txBody>
          <a:bodyPr wrap="square" rtlCol="0">
            <a:spAutoFit/>
          </a:bodyPr>
          <a:lstStyle/>
          <a:p>
            <a:r>
              <a:rPr lang="en-IN" sz="4800" dirty="0">
                <a:latin typeface="Showcard Gothic" panose="04020904020102020604" pitchFamily="82" charset="0"/>
                <a:cs typeface="Times New Roman" panose="02020603050405020304" pitchFamily="18" charset="0"/>
              </a:rPr>
              <a:t>Thankyou</a:t>
            </a:r>
          </a:p>
        </p:txBody>
      </p:sp>
      <p:sp>
        <p:nvSpPr>
          <p:cNvPr id="7" name="TextBox 6">
            <a:extLst>
              <a:ext uri="{FF2B5EF4-FFF2-40B4-BE49-F238E27FC236}">
                <a16:creationId xmlns:a16="http://schemas.microsoft.com/office/drawing/2014/main" id="{F4B14E9B-F471-AB88-B9B4-25AB0BE1DD1D}"/>
              </a:ext>
            </a:extLst>
          </p:cNvPr>
          <p:cNvSpPr txBox="1"/>
          <p:nvPr/>
        </p:nvSpPr>
        <p:spPr>
          <a:xfrm>
            <a:off x="4865804" y="3680460"/>
            <a:ext cx="755335" cy="1569660"/>
          </a:xfrm>
          <a:prstGeom prst="rect">
            <a:avLst/>
          </a:prstGeom>
          <a:noFill/>
        </p:spPr>
        <p:txBody>
          <a:bodyPr wrap="none" rtlCol="0">
            <a:spAutoFit/>
          </a:bodyPr>
          <a:lstStyle/>
          <a:p>
            <a:r>
              <a:rPr lang="en-US" sz="9600" b="1" dirty="0">
                <a:solidFill>
                  <a:srgbClr val="FF0000"/>
                </a:solidFill>
              </a:rPr>
              <a:t>?</a:t>
            </a:r>
            <a:endParaRPr lang="en-IN" sz="9600" b="1" dirty="0">
              <a:solidFill>
                <a:srgbClr val="FF0000"/>
              </a:solidFill>
            </a:endParaRPr>
          </a:p>
        </p:txBody>
      </p:sp>
    </p:spTree>
    <p:extLst>
      <p:ext uri="{BB962C8B-B14F-4D97-AF65-F5344CB8AC3E}">
        <p14:creationId xmlns:p14="http://schemas.microsoft.com/office/powerpoint/2010/main" val="13220437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1221</TotalTime>
  <Words>2654</Words>
  <Application>Microsoft Office PowerPoint</Application>
  <PresentationFormat>Widescreen</PresentationFormat>
  <Paragraphs>290</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Showcard Gothic</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mualidhar V</dc:creator>
  <cp:lastModifiedBy>Thulluru Saisree</cp:lastModifiedBy>
  <cp:revision>50</cp:revision>
  <dcterms:created xsi:type="dcterms:W3CDTF">2023-07-18T12:47:32Z</dcterms:created>
  <dcterms:modified xsi:type="dcterms:W3CDTF">2026-09-18T03:05:47Z</dcterms:modified>
</cp:coreProperties>
</file>